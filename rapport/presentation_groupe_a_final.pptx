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7733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14.png"/><Relationship Id="rId4" Type="http://schemas.openxmlformats.org/officeDocument/2006/relationships/image" Target="../media/image16.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pic>
        <p:nvPicPr>
          <p:cNvPr id="4" name="Image 0" descr="D:\SIGUI\ProjetFinal\pptx_assets\logo_forcen.png"/>
          <p:cNvPicPr>
            <a:picLocks noChangeAspect="1"/>
          </p:cNvPicPr>
          <p:nvPr/>
        </p:nvPicPr>
        <p:blipFill>
          <a:blip r:embed="rId3"/>
          <a:stretch>
            <a:fillRect/>
          </a:stretch>
        </p:blipFill>
        <p:spPr>
          <a:xfrm>
            <a:off x="822960" y="548640"/>
            <a:ext cx="2377440" cy="813585"/>
          </a:xfrm>
          <a:prstGeom prst="rect">
            <a:avLst/>
          </a:prstGeom>
        </p:spPr>
      </p:pic>
      <p:sp>
        <p:nvSpPr>
          <p:cNvPr id="5" name="Text 2"/>
          <p:cNvSpPr/>
          <p:nvPr/>
        </p:nvSpPr>
        <p:spPr>
          <a:xfrm>
            <a:off x="822960" y="2651760"/>
            <a:ext cx="10545775" cy="100584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Weather Data Platform</a:t>
            </a:r>
            <a:endParaRPr lang="en-US" sz="4600" dirty="0"/>
          </a:p>
        </p:txBody>
      </p:sp>
      <p:sp>
        <p:nvSpPr>
          <p:cNvPr id="6" name="Text 3"/>
          <p:cNvSpPr/>
          <p:nvPr/>
        </p:nvSpPr>
        <p:spPr>
          <a:xfrm>
            <a:off x="822960" y="3611880"/>
            <a:ext cx="10545775" cy="548640"/>
          </a:xfrm>
          <a:prstGeom prst="rect">
            <a:avLst/>
          </a:prstGeom>
          <a:noFill/>
          <a:ln/>
        </p:spPr>
        <p:txBody>
          <a:bodyPr wrap="square" rtlCol="0" anchor="ctr"/>
          <a:lstStyle/>
          <a:p>
            <a:pPr marL="0" indent="0">
              <a:buNone/>
            </a:pPr>
            <a:r>
              <a:rPr lang="en-US" sz="2000" dirty="0">
                <a:solidFill>
                  <a:srgbClr val="CFEFDD"/>
                </a:solidFill>
                <a:latin typeface="Calibri" pitchFamily="34" charset="0"/>
                <a:ea typeface="Calibri" pitchFamily="34" charset="-122"/>
                <a:cs typeface="Calibri" pitchFamily="34" charset="-120"/>
              </a:rPr>
              <a:t>De l'ingestion des données à l'analyse et à la prédiction</a:t>
            </a:r>
            <a:endParaRPr lang="en-US" sz="2000" dirty="0"/>
          </a:p>
        </p:txBody>
      </p:sp>
      <p:sp>
        <p:nvSpPr>
          <p:cNvPr id="7" name="Text 4"/>
          <p:cNvSpPr/>
          <p:nvPr/>
        </p:nvSpPr>
        <p:spPr>
          <a:xfrm>
            <a:off x="822960" y="4572000"/>
            <a:ext cx="5486400" cy="1188720"/>
          </a:xfrm>
          <a:prstGeom prst="rect">
            <a:avLst/>
          </a:prstGeom>
          <a:noFill/>
          <a:ln/>
        </p:spPr>
        <p:txBody>
          <a:bodyPr wrap="square" rtlCol="0" anchor="ctr"/>
          <a:lstStyle/>
          <a:p>
            <a:pPr marL="0" indent="0">
              <a:lnSpc>
                <a:spcPct val="130000"/>
              </a:lnSpc>
              <a:buNone/>
            </a:pPr>
            <a:r>
              <a:rPr lang="en-US" sz="1600" b="1" dirty="0" err="1">
                <a:solidFill>
                  <a:srgbClr val="FFFFFF"/>
                </a:solidFill>
                <a:latin typeface="Calibri" pitchFamily="34" charset="0"/>
                <a:ea typeface="Calibri" pitchFamily="34" charset="-122"/>
                <a:cs typeface="Calibri" pitchFamily="34" charset="-120"/>
              </a:rPr>
              <a:t>Présenté</a:t>
            </a:r>
            <a:r>
              <a:rPr lang="en-US" sz="1600" b="1" dirty="0">
                <a:solidFill>
                  <a:srgbClr val="FFFFFF"/>
                </a:solidFill>
                <a:latin typeface="Calibri" pitchFamily="34" charset="0"/>
                <a:ea typeface="Calibri" pitchFamily="34" charset="-122"/>
                <a:cs typeface="Calibri" pitchFamily="34" charset="-120"/>
              </a:rPr>
              <a:t> Par : </a:t>
            </a:r>
            <a:r>
              <a:rPr lang="en-US" sz="1600" dirty="0">
                <a:solidFill>
                  <a:srgbClr val="FFFFFF"/>
                </a:solidFill>
                <a:latin typeface="Calibri" pitchFamily="34" charset="0"/>
                <a:ea typeface="Calibri" pitchFamily="34" charset="-122"/>
                <a:cs typeface="Calibri" pitchFamily="34" charset="-120"/>
              </a:rPr>
              <a:t>Groupe A</a:t>
            </a:r>
          </a:p>
        </p:txBody>
      </p:sp>
      <p:sp>
        <p:nvSpPr>
          <p:cNvPr id="8" name="Text 5"/>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749808"/>
            <a:ext cx="548640" cy="548640"/>
          </a:xfrm>
          <a:prstGeom prst="ellipse">
            <a:avLst/>
          </a:prstGeom>
          <a:solidFill>
            <a:srgbClr val="22C55E"/>
          </a:solidFill>
          <a:ln/>
        </p:spPr>
        <p:txBody>
          <a:bodyPr/>
          <a:lstStyle/>
          <a:p>
            <a:endParaRPr lang="fr-FR"/>
          </a:p>
        </p:txBody>
      </p:sp>
      <p:pic>
        <p:nvPicPr>
          <p:cNvPr id="3" name="Image 0" descr="D:\SIGUI\ProjetFinal\pptx_icons\route.png"/>
          <p:cNvPicPr>
            <a:picLocks noChangeAspect="1"/>
          </p:cNvPicPr>
          <p:nvPr/>
        </p:nvPicPr>
        <p:blipFill>
          <a:blip r:embed="rId3"/>
          <a:stretch>
            <a:fillRect/>
          </a:stretch>
        </p:blipFill>
        <p:spPr>
          <a:xfrm>
            <a:off x="603504" y="896112"/>
            <a:ext cx="256032" cy="256032"/>
          </a:xfrm>
          <a:prstGeom prst="rect">
            <a:avLst/>
          </a:prstGeom>
        </p:spPr>
      </p:pic>
      <p:sp>
        <p:nvSpPr>
          <p:cNvPr id="4" name="Text 1"/>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Sommaire</a:t>
            </a:r>
            <a:endParaRPr lang="en-US" sz="2800" dirty="0"/>
          </a:p>
        </p:txBody>
      </p:sp>
      <p:sp>
        <p:nvSpPr>
          <p:cNvPr id="5" name="Text 2"/>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6" name="Shape 3"/>
          <p:cNvSpPr/>
          <p:nvPr/>
        </p:nvSpPr>
        <p:spPr>
          <a:xfrm>
            <a:off x="457200" y="1600200"/>
            <a:ext cx="11277295" cy="566928"/>
          </a:xfrm>
          <a:prstGeom prst="roundRect">
            <a:avLst>
              <a:gd name="adj" fmla="val 9677"/>
            </a:avLst>
          </a:prstGeom>
          <a:solidFill>
            <a:srgbClr val="F3FBF6"/>
          </a:solidFill>
          <a:ln/>
        </p:spPr>
        <p:txBody>
          <a:bodyPr/>
          <a:lstStyle/>
          <a:p>
            <a:endParaRPr lang="fr-FR"/>
          </a:p>
        </p:txBody>
      </p:sp>
      <p:sp>
        <p:nvSpPr>
          <p:cNvPr id="7" name="Text 4"/>
          <p:cNvSpPr/>
          <p:nvPr/>
        </p:nvSpPr>
        <p:spPr>
          <a:xfrm>
            <a:off x="640080" y="1600200"/>
            <a:ext cx="1645920" cy="566928"/>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Introduction</a:t>
            </a:r>
            <a:endParaRPr lang="en-US" sz="1400" dirty="0"/>
          </a:p>
        </p:txBody>
      </p:sp>
      <p:sp>
        <p:nvSpPr>
          <p:cNvPr id="8" name="Text 5"/>
          <p:cNvSpPr/>
          <p:nvPr/>
        </p:nvSpPr>
        <p:spPr>
          <a:xfrm>
            <a:off x="2377440" y="1600200"/>
            <a:ext cx="9265615" cy="566928"/>
          </a:xfrm>
          <a:prstGeom prst="rect">
            <a:avLst/>
          </a:prstGeom>
          <a:noFill/>
          <a:ln/>
        </p:spPr>
        <p:txBody>
          <a:bodyPr wrap="square" rtlCol="0" anchor="ctr"/>
          <a:lstStyle/>
          <a:p>
            <a:pPr marL="0" indent="0">
              <a:buNone/>
            </a:pPr>
            <a:r>
              <a:rPr lang="en-US" sz="1450" b="1" dirty="0">
                <a:solidFill>
                  <a:srgbClr val="14532D"/>
                </a:solidFill>
                <a:latin typeface="Calibri" pitchFamily="34" charset="0"/>
                <a:ea typeface="Calibri" pitchFamily="34" charset="-122"/>
                <a:cs typeface="Calibri" pitchFamily="34" charset="-120"/>
              </a:rPr>
              <a:t>Contexte &amp; objectifs</a:t>
            </a:r>
            <a:endParaRPr lang="en-US" sz="1450" dirty="0"/>
          </a:p>
        </p:txBody>
      </p:sp>
      <p:sp>
        <p:nvSpPr>
          <p:cNvPr id="9" name="Shape 6"/>
          <p:cNvSpPr/>
          <p:nvPr/>
        </p:nvSpPr>
        <p:spPr>
          <a:xfrm>
            <a:off x="457200" y="2258568"/>
            <a:ext cx="11277295" cy="566928"/>
          </a:xfrm>
          <a:prstGeom prst="roundRect">
            <a:avLst>
              <a:gd name="adj" fmla="val 9677"/>
            </a:avLst>
          </a:prstGeom>
          <a:solidFill>
            <a:srgbClr val="F3FBF6"/>
          </a:solidFill>
          <a:ln/>
        </p:spPr>
        <p:txBody>
          <a:bodyPr/>
          <a:lstStyle/>
          <a:p>
            <a:endParaRPr lang="fr-FR"/>
          </a:p>
        </p:txBody>
      </p:sp>
      <p:sp>
        <p:nvSpPr>
          <p:cNvPr id="10" name="Text 7"/>
          <p:cNvSpPr/>
          <p:nvPr/>
        </p:nvSpPr>
        <p:spPr>
          <a:xfrm>
            <a:off x="640080" y="2258568"/>
            <a:ext cx="1645920" cy="566928"/>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01 – 03</a:t>
            </a:r>
            <a:endParaRPr lang="en-US" sz="1400" dirty="0"/>
          </a:p>
        </p:txBody>
      </p:sp>
      <p:sp>
        <p:nvSpPr>
          <p:cNvPr id="11" name="Text 8"/>
          <p:cNvSpPr/>
          <p:nvPr/>
        </p:nvSpPr>
        <p:spPr>
          <a:xfrm>
            <a:off x="2377440" y="2258568"/>
            <a:ext cx="9265615" cy="566928"/>
          </a:xfrm>
          <a:prstGeom prst="rect">
            <a:avLst/>
          </a:prstGeom>
          <a:noFill/>
          <a:ln/>
        </p:spPr>
        <p:txBody>
          <a:bodyPr wrap="square" rtlCol="0" anchor="ctr"/>
          <a:lstStyle/>
          <a:p>
            <a:pPr marL="0" indent="0">
              <a:buNone/>
            </a:pPr>
            <a:r>
              <a:rPr lang="en-US" sz="1450" b="1" dirty="0">
                <a:solidFill>
                  <a:srgbClr val="14532D"/>
                </a:solidFill>
                <a:latin typeface="Calibri" pitchFamily="34" charset="0"/>
                <a:ea typeface="Calibri" pitchFamily="34" charset="-122"/>
                <a:cs typeface="Calibri" pitchFamily="34" charset="-120"/>
              </a:rPr>
              <a:t>Ingénierie des données : architecture, extraction, ingestion, NiFi</a:t>
            </a:r>
            <a:endParaRPr lang="en-US" sz="1450" dirty="0"/>
          </a:p>
        </p:txBody>
      </p:sp>
      <p:sp>
        <p:nvSpPr>
          <p:cNvPr id="12" name="Shape 9"/>
          <p:cNvSpPr/>
          <p:nvPr/>
        </p:nvSpPr>
        <p:spPr>
          <a:xfrm>
            <a:off x="457200" y="2916936"/>
            <a:ext cx="11277295" cy="566928"/>
          </a:xfrm>
          <a:prstGeom prst="roundRect">
            <a:avLst>
              <a:gd name="adj" fmla="val 9677"/>
            </a:avLst>
          </a:prstGeom>
          <a:solidFill>
            <a:srgbClr val="F3FBF6"/>
          </a:solidFill>
          <a:ln/>
        </p:spPr>
        <p:txBody>
          <a:bodyPr/>
          <a:lstStyle/>
          <a:p>
            <a:endParaRPr lang="fr-FR"/>
          </a:p>
        </p:txBody>
      </p:sp>
      <p:sp>
        <p:nvSpPr>
          <p:cNvPr id="13" name="Text 10"/>
          <p:cNvSpPr/>
          <p:nvPr/>
        </p:nvSpPr>
        <p:spPr>
          <a:xfrm>
            <a:off x="640080" y="2916936"/>
            <a:ext cx="1645920" cy="566928"/>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04 – 06</a:t>
            </a:r>
            <a:endParaRPr lang="en-US" sz="1400" dirty="0"/>
          </a:p>
        </p:txBody>
      </p:sp>
      <p:sp>
        <p:nvSpPr>
          <p:cNvPr id="14" name="Text 11"/>
          <p:cNvSpPr/>
          <p:nvPr/>
        </p:nvSpPr>
        <p:spPr>
          <a:xfrm>
            <a:off x="2377440" y="2916936"/>
            <a:ext cx="9265615" cy="566928"/>
          </a:xfrm>
          <a:prstGeom prst="rect">
            <a:avLst/>
          </a:prstGeom>
          <a:noFill/>
          <a:ln/>
        </p:spPr>
        <p:txBody>
          <a:bodyPr wrap="square" rtlCol="0" anchor="ctr"/>
          <a:lstStyle/>
          <a:p>
            <a:pPr marL="0" indent="0">
              <a:buNone/>
            </a:pPr>
            <a:r>
              <a:rPr lang="en-US" sz="1450" b="1" dirty="0">
                <a:solidFill>
                  <a:srgbClr val="14532D"/>
                </a:solidFill>
                <a:latin typeface="Calibri" pitchFamily="34" charset="0"/>
                <a:ea typeface="Calibri" pitchFamily="34" charset="-122"/>
                <a:cs typeface="Calibri" pitchFamily="34" charset="-120"/>
              </a:rPr>
              <a:t>Transformation, stockage &amp; chargement (MinIO, MongoDB)</a:t>
            </a:r>
            <a:endParaRPr lang="en-US" sz="1450" dirty="0"/>
          </a:p>
        </p:txBody>
      </p:sp>
      <p:sp>
        <p:nvSpPr>
          <p:cNvPr id="15" name="Shape 12"/>
          <p:cNvSpPr/>
          <p:nvPr/>
        </p:nvSpPr>
        <p:spPr>
          <a:xfrm>
            <a:off x="457200" y="3575304"/>
            <a:ext cx="11277295" cy="566928"/>
          </a:xfrm>
          <a:prstGeom prst="roundRect">
            <a:avLst>
              <a:gd name="adj" fmla="val 9677"/>
            </a:avLst>
          </a:prstGeom>
          <a:solidFill>
            <a:srgbClr val="F3FBF6"/>
          </a:solidFill>
          <a:ln/>
        </p:spPr>
        <p:txBody>
          <a:bodyPr/>
          <a:lstStyle/>
          <a:p>
            <a:endParaRPr lang="fr-FR"/>
          </a:p>
        </p:txBody>
      </p:sp>
      <p:sp>
        <p:nvSpPr>
          <p:cNvPr id="16" name="Text 13"/>
          <p:cNvSpPr/>
          <p:nvPr/>
        </p:nvSpPr>
        <p:spPr>
          <a:xfrm>
            <a:off x="640080" y="3575304"/>
            <a:ext cx="1645920" cy="566928"/>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07 – 09</a:t>
            </a:r>
            <a:endParaRPr lang="en-US" sz="1400" dirty="0"/>
          </a:p>
        </p:txBody>
      </p:sp>
      <p:sp>
        <p:nvSpPr>
          <p:cNvPr id="17" name="Text 14"/>
          <p:cNvSpPr/>
          <p:nvPr/>
        </p:nvSpPr>
        <p:spPr>
          <a:xfrm>
            <a:off x="2377440" y="3575304"/>
            <a:ext cx="9265615" cy="566928"/>
          </a:xfrm>
          <a:prstGeom prst="rect">
            <a:avLst/>
          </a:prstGeom>
          <a:noFill/>
          <a:ln/>
        </p:spPr>
        <p:txBody>
          <a:bodyPr wrap="square" rtlCol="0" anchor="ctr"/>
          <a:lstStyle/>
          <a:p>
            <a:pPr marL="0" indent="0">
              <a:buNone/>
            </a:pPr>
            <a:r>
              <a:rPr lang="en-US" sz="1450" b="1" dirty="0">
                <a:solidFill>
                  <a:srgbClr val="14532D"/>
                </a:solidFill>
                <a:latin typeface="Calibri" pitchFamily="34" charset="0"/>
                <a:ea typeface="Calibri" pitchFamily="34" charset="-122"/>
                <a:cs typeface="Calibri" pitchFamily="34" charset="-120"/>
              </a:rPr>
              <a:t>Analyse exploratoire, statistique &amp; visualisations</a:t>
            </a:r>
            <a:endParaRPr lang="en-US" sz="1450" dirty="0"/>
          </a:p>
        </p:txBody>
      </p:sp>
      <p:sp>
        <p:nvSpPr>
          <p:cNvPr id="18" name="Shape 15"/>
          <p:cNvSpPr/>
          <p:nvPr/>
        </p:nvSpPr>
        <p:spPr>
          <a:xfrm>
            <a:off x="457200" y="4233672"/>
            <a:ext cx="11277295" cy="566928"/>
          </a:xfrm>
          <a:prstGeom prst="roundRect">
            <a:avLst>
              <a:gd name="adj" fmla="val 9677"/>
            </a:avLst>
          </a:prstGeom>
          <a:solidFill>
            <a:srgbClr val="F3FBF6"/>
          </a:solidFill>
          <a:ln/>
        </p:spPr>
        <p:txBody>
          <a:bodyPr/>
          <a:lstStyle/>
          <a:p>
            <a:endParaRPr lang="fr-FR"/>
          </a:p>
        </p:txBody>
      </p:sp>
      <p:sp>
        <p:nvSpPr>
          <p:cNvPr id="19" name="Text 16"/>
          <p:cNvSpPr/>
          <p:nvPr/>
        </p:nvSpPr>
        <p:spPr>
          <a:xfrm>
            <a:off x="640080" y="4233672"/>
            <a:ext cx="1645920" cy="566928"/>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10</a:t>
            </a:r>
            <a:endParaRPr lang="en-US" sz="1400" dirty="0"/>
          </a:p>
        </p:txBody>
      </p:sp>
      <p:sp>
        <p:nvSpPr>
          <p:cNvPr id="20" name="Text 17"/>
          <p:cNvSpPr/>
          <p:nvPr/>
        </p:nvSpPr>
        <p:spPr>
          <a:xfrm>
            <a:off x="2377440" y="4233672"/>
            <a:ext cx="9265615" cy="566928"/>
          </a:xfrm>
          <a:prstGeom prst="rect">
            <a:avLst/>
          </a:prstGeom>
          <a:noFill/>
          <a:ln/>
        </p:spPr>
        <p:txBody>
          <a:bodyPr wrap="square" rtlCol="0" anchor="ctr"/>
          <a:lstStyle/>
          <a:p>
            <a:pPr marL="0" indent="0">
              <a:buNone/>
            </a:pPr>
            <a:r>
              <a:rPr lang="en-US" sz="1450" b="1" dirty="0">
                <a:solidFill>
                  <a:srgbClr val="14532D"/>
                </a:solidFill>
                <a:latin typeface="Calibri" pitchFamily="34" charset="0"/>
                <a:ea typeface="Calibri" pitchFamily="34" charset="-122"/>
                <a:cs typeface="Calibri" pitchFamily="34" charset="-120"/>
              </a:rPr>
              <a:t>Tableau de bord interactif Streamlit</a:t>
            </a:r>
            <a:endParaRPr lang="en-US" sz="1450" dirty="0"/>
          </a:p>
        </p:txBody>
      </p:sp>
      <p:sp>
        <p:nvSpPr>
          <p:cNvPr id="21" name="Shape 18"/>
          <p:cNvSpPr/>
          <p:nvPr/>
        </p:nvSpPr>
        <p:spPr>
          <a:xfrm>
            <a:off x="457200" y="4892040"/>
            <a:ext cx="11277295" cy="566928"/>
          </a:xfrm>
          <a:prstGeom prst="roundRect">
            <a:avLst>
              <a:gd name="adj" fmla="val 9677"/>
            </a:avLst>
          </a:prstGeom>
          <a:solidFill>
            <a:srgbClr val="F3FBF6"/>
          </a:solidFill>
          <a:ln/>
        </p:spPr>
        <p:txBody>
          <a:bodyPr/>
          <a:lstStyle/>
          <a:p>
            <a:endParaRPr lang="fr-FR"/>
          </a:p>
        </p:txBody>
      </p:sp>
      <p:sp>
        <p:nvSpPr>
          <p:cNvPr id="22" name="Text 19"/>
          <p:cNvSpPr/>
          <p:nvPr/>
        </p:nvSpPr>
        <p:spPr>
          <a:xfrm>
            <a:off x="640080" y="4892040"/>
            <a:ext cx="1645920" cy="566928"/>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11</a:t>
            </a:r>
            <a:endParaRPr lang="en-US" sz="1400" dirty="0"/>
          </a:p>
        </p:txBody>
      </p:sp>
      <p:sp>
        <p:nvSpPr>
          <p:cNvPr id="23" name="Text 20"/>
          <p:cNvSpPr/>
          <p:nvPr/>
        </p:nvSpPr>
        <p:spPr>
          <a:xfrm>
            <a:off x="2377440" y="4892040"/>
            <a:ext cx="9265615" cy="566928"/>
          </a:xfrm>
          <a:prstGeom prst="rect">
            <a:avLst/>
          </a:prstGeom>
          <a:noFill/>
          <a:ln/>
        </p:spPr>
        <p:txBody>
          <a:bodyPr wrap="square" rtlCol="0" anchor="ctr"/>
          <a:lstStyle/>
          <a:p>
            <a:pPr marL="0" indent="0">
              <a:buNone/>
            </a:pPr>
            <a:r>
              <a:rPr lang="en-US" sz="1450" b="1" dirty="0">
                <a:solidFill>
                  <a:srgbClr val="14532D"/>
                </a:solidFill>
                <a:latin typeface="Calibri" pitchFamily="34" charset="0"/>
                <a:ea typeface="Calibri" pitchFamily="34" charset="-122"/>
                <a:cs typeface="Calibri" pitchFamily="34" charset="-120"/>
              </a:rPr>
              <a:t>Modélisation prédictive</a:t>
            </a:r>
            <a:endParaRPr lang="en-US" sz="1450" dirty="0"/>
          </a:p>
        </p:txBody>
      </p:sp>
      <p:sp>
        <p:nvSpPr>
          <p:cNvPr id="24" name="Shape 21"/>
          <p:cNvSpPr/>
          <p:nvPr/>
        </p:nvSpPr>
        <p:spPr>
          <a:xfrm>
            <a:off x="457200" y="5550408"/>
            <a:ext cx="11277295" cy="566928"/>
          </a:xfrm>
          <a:prstGeom prst="roundRect">
            <a:avLst>
              <a:gd name="adj" fmla="val 9677"/>
            </a:avLst>
          </a:prstGeom>
          <a:solidFill>
            <a:srgbClr val="F3FBF6"/>
          </a:solidFill>
          <a:ln/>
        </p:spPr>
        <p:txBody>
          <a:bodyPr/>
          <a:lstStyle/>
          <a:p>
            <a:endParaRPr lang="fr-FR"/>
          </a:p>
        </p:txBody>
      </p:sp>
      <p:sp>
        <p:nvSpPr>
          <p:cNvPr id="25" name="Text 22"/>
          <p:cNvSpPr/>
          <p:nvPr/>
        </p:nvSpPr>
        <p:spPr>
          <a:xfrm>
            <a:off x="640080" y="5550408"/>
            <a:ext cx="1645920" cy="566928"/>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Conclusion</a:t>
            </a:r>
            <a:endParaRPr lang="en-US" sz="1400" dirty="0"/>
          </a:p>
        </p:txBody>
      </p:sp>
      <p:sp>
        <p:nvSpPr>
          <p:cNvPr id="26" name="Text 23"/>
          <p:cNvSpPr/>
          <p:nvPr/>
        </p:nvSpPr>
        <p:spPr>
          <a:xfrm>
            <a:off x="2377440" y="5550408"/>
            <a:ext cx="9265615" cy="566928"/>
          </a:xfrm>
          <a:prstGeom prst="rect">
            <a:avLst/>
          </a:prstGeom>
          <a:noFill/>
          <a:ln/>
        </p:spPr>
        <p:txBody>
          <a:bodyPr wrap="square" rtlCol="0" anchor="ctr"/>
          <a:lstStyle/>
          <a:p>
            <a:pPr marL="0" indent="0">
              <a:buNone/>
            </a:pPr>
            <a:r>
              <a:rPr lang="en-US" sz="1450" b="1" dirty="0">
                <a:solidFill>
                  <a:srgbClr val="14532D"/>
                </a:solidFill>
                <a:latin typeface="Calibri" pitchFamily="34" charset="0"/>
                <a:ea typeface="Calibri" pitchFamily="34" charset="-122"/>
                <a:cs typeface="Calibri" pitchFamily="34" charset="-120"/>
              </a:rPr>
              <a:t>Bilan, portée &amp; perspectives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000" b="1" dirty="0">
                <a:solidFill>
                  <a:srgbClr val="0F3D28"/>
                </a:solidFill>
                <a:latin typeface="Cambria" pitchFamily="34" charset="0"/>
                <a:ea typeface="Cambria" pitchFamily="34" charset="-122"/>
                <a:cs typeface="Cambria" pitchFamily="34" charset="-120"/>
              </a:rPr>
              <a:t>INTRO</a:t>
            </a:r>
            <a:endParaRPr lang="en-US" sz="20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Introduction</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Présentation du projet, du jeu de données météorologiques et de l'organisation du groupe.</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dirty="0"/>
          </a:p>
        </p:txBody>
      </p:sp>
      <p:sp>
        <p:nvSpPr>
          <p:cNvPr id="9" name="Text 7"/>
          <p:cNvSpPr/>
          <p:nvPr/>
        </p:nvSpPr>
        <p:spPr>
          <a:xfrm>
            <a:off x="822960" y="4892040"/>
            <a:ext cx="4206240" cy="502920"/>
          </a:xfrm>
          <a:prstGeom prst="rect">
            <a:avLst/>
          </a:prstGeom>
          <a:noFill/>
          <a:ln/>
        </p:spPr>
        <p:txBody>
          <a:bodyPr wrap="square" rtlCol="0" anchor="ctr"/>
          <a:lstStyle/>
          <a:p>
            <a:pPr marL="0" indent="0" algn="ctr">
              <a:buNone/>
            </a:pPr>
            <a:r>
              <a:rPr lang="en-US" sz="1500" i="1" dirty="0">
                <a:solidFill>
                  <a:srgbClr val="CFEFDD"/>
                </a:solidFill>
                <a:latin typeface="Calibri" pitchFamily="34" charset="0"/>
                <a:ea typeface="Calibri" pitchFamily="34" charset="-122"/>
                <a:cs typeface="Calibri" pitchFamily="34" charset="-120"/>
              </a:rPr>
              <a:t>KONE Abdel Kader Razack </a:t>
            </a:r>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66774"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1166774"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INTRODUCTION</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intro_users.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Contexte et objectifs</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17320"/>
            <a:ext cx="11277295" cy="86868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Le projet vise à exploiter un dataset météo Kaggle portant sur la ville de Szeged, en Hongrie, entre 2005 et 2016, afin de produire une chaîne complète de traitement, d'analyse et de valorisation des données.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423160"/>
          <a:ext cx="9418320" cy="3200400"/>
        </p:xfrm>
        <a:graphic>
          <a:graphicData uri="http://schemas.openxmlformats.org/drawingml/2006/table">
            <a:tbl>
              <a:tblPr/>
              <a:tblGrid>
                <a:gridCol w="329184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tblGrid>
              <a:tr h="457200">
                <a:tc>
                  <a:txBody>
                    <a:bodyPr/>
                    <a:lstStyle/>
                    <a:p>
                      <a:pPr marL="0" indent="0" algn="l">
                        <a:buNone/>
                      </a:pPr>
                      <a:r>
                        <a:rPr lang="en-US" sz="1300" b="1" dirty="0">
                          <a:solidFill>
                            <a:srgbClr val="FFFFFF"/>
                          </a:solidFill>
                        </a:rPr>
                        <a:t>Contribution du groupe</a:t>
                      </a:r>
                      <a:endParaRPr lang="en-US" sz="13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300" b="1" dirty="0">
                          <a:solidFill>
                            <a:srgbClr val="FFFFFF"/>
                          </a:solidFill>
                        </a:rPr>
                        <a:t>Objectif</a:t>
                      </a:r>
                      <a:endParaRPr lang="en-US" sz="13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45720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Collecte et ingestion</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Récupérer les données brutes depuis Kaggle</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Traitement / ETL</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Nettoyer, normaliser et préparer les données</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r h="45720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Stockage</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Organiser les données dans MinIO et MongoDB</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Analyse et visualisation</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Explorer les tendances et produire des indicateurs</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4"/>
                  </a:ext>
                </a:extLst>
              </a:tr>
              <a:tr h="45720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Tableau de bord</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Rendre les résultats interactifs et lisibles</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Modélisation</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Tester une première approche de prédiction</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6"/>
                  </a:ext>
                </a:extLst>
              </a:tr>
            </a:tbl>
          </a:graphicData>
        </a:graphic>
      </p:graphicFrame>
      <p:sp>
        <p:nvSpPr>
          <p:cNvPr id="10" name="Shape 6"/>
          <p:cNvSpPr/>
          <p:nvPr/>
        </p:nvSpPr>
        <p:spPr>
          <a:xfrm>
            <a:off x="457200" y="5577840"/>
            <a:ext cx="11277295" cy="566928"/>
          </a:xfrm>
          <a:prstGeom prst="roundRect">
            <a:avLst>
              <a:gd name="adj" fmla="val 9677"/>
            </a:avLst>
          </a:prstGeom>
          <a:solidFill>
            <a:srgbClr val="E3F5EA"/>
          </a:solidFill>
          <a:ln/>
        </p:spPr>
        <p:txBody>
          <a:bodyPr/>
          <a:lstStyle/>
          <a:p>
            <a:endParaRPr lang="fr-FR"/>
          </a:p>
        </p:txBody>
      </p:sp>
      <p:sp>
        <p:nvSpPr>
          <p:cNvPr id="11" name="Text 7"/>
          <p:cNvSpPr/>
          <p:nvPr/>
        </p:nvSpPr>
        <p:spPr>
          <a:xfrm>
            <a:off x="640080" y="5577840"/>
            <a:ext cx="10911535" cy="566928"/>
          </a:xfrm>
          <a:prstGeom prst="rect">
            <a:avLst/>
          </a:prstGeom>
          <a:noFill/>
          <a:ln/>
        </p:spPr>
        <p:txBody>
          <a:bodyPr wrap="square" rtlCol="0" anchor="ctr"/>
          <a:lstStyle/>
          <a:p>
            <a:pPr marL="0" indent="0">
              <a:buNone/>
            </a:pPr>
            <a:r>
              <a:rPr lang="en-US" sz="1300" b="1" dirty="0">
                <a:solidFill>
                  <a:srgbClr val="14532D"/>
                </a:solidFill>
                <a:latin typeface="Calibri" pitchFamily="34" charset="0"/>
                <a:ea typeface="Calibri" pitchFamily="34" charset="-122"/>
                <a:cs typeface="Calibri" pitchFamily="34" charset="-120"/>
              </a:rPr>
              <a:t>Objectif : </a:t>
            </a:r>
            <a:r>
              <a:rPr lang="en-US" sz="1300" dirty="0">
                <a:solidFill>
                  <a:srgbClr val="14532D"/>
                </a:solidFill>
                <a:latin typeface="Calibri" pitchFamily="34" charset="0"/>
                <a:ea typeface="Calibri" pitchFamily="34" charset="-122"/>
                <a:cs typeface="Calibri" pitchFamily="34" charset="-120"/>
              </a:rPr>
              <a:t>livrer une solution reproductible, documentée et exploitable par l'ensemble du </a:t>
            </a:r>
            <a:r>
              <a:rPr lang="en-US" sz="1300" dirty="0" err="1">
                <a:solidFill>
                  <a:srgbClr val="14532D"/>
                </a:solidFill>
                <a:latin typeface="Calibri" pitchFamily="34" charset="0"/>
                <a:ea typeface="Calibri" pitchFamily="34" charset="-122"/>
                <a:cs typeface="Calibri" pitchFamily="34" charset="-120"/>
              </a:rPr>
              <a:t>groupe</a:t>
            </a:r>
            <a:r>
              <a:rPr lang="en-US" sz="1300" dirty="0">
                <a:solidFill>
                  <a:srgbClr val="14532D"/>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66774"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1166774"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INTRODUCTION</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files.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Le dataset en un coup d'œil</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45720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Un historique météorologique horaire riche, représentatif des difficultés réelles d'un jeu de données brut.</a:t>
            </a:r>
            <a:endParaRPr lang="en-US" sz="1500" dirty="0"/>
          </a:p>
        </p:txBody>
      </p:sp>
      <p:sp>
        <p:nvSpPr>
          <p:cNvPr id="9" name="Shape 6"/>
          <p:cNvSpPr/>
          <p:nvPr/>
        </p:nvSpPr>
        <p:spPr>
          <a:xfrm>
            <a:off x="457200" y="2148840"/>
            <a:ext cx="2468880" cy="1554480"/>
          </a:xfrm>
          <a:prstGeom prst="roundRect">
            <a:avLst>
              <a:gd name="adj" fmla="val 4706"/>
            </a:avLst>
          </a:prstGeom>
          <a:solidFill>
            <a:srgbClr val="F3FBF6"/>
          </a:solidFill>
          <a:ln/>
        </p:spPr>
        <p:txBody>
          <a:bodyPr/>
          <a:lstStyle/>
          <a:p>
            <a:endParaRPr lang="fr-FR"/>
          </a:p>
        </p:txBody>
      </p:sp>
      <p:sp>
        <p:nvSpPr>
          <p:cNvPr id="10" name="Text 7"/>
          <p:cNvSpPr/>
          <p:nvPr/>
        </p:nvSpPr>
        <p:spPr>
          <a:xfrm>
            <a:off x="457200" y="2331720"/>
            <a:ext cx="2468880" cy="731520"/>
          </a:xfrm>
          <a:prstGeom prst="rect">
            <a:avLst/>
          </a:prstGeom>
          <a:noFill/>
          <a:ln/>
        </p:spPr>
        <p:txBody>
          <a:bodyPr wrap="square" rtlCol="0" anchor="ctr"/>
          <a:lstStyle/>
          <a:p>
            <a:pPr marL="0" indent="0" algn="ctr">
              <a:buNone/>
            </a:pPr>
            <a:r>
              <a:rPr lang="en-US" sz="2200" b="1" dirty="0">
                <a:solidFill>
                  <a:srgbClr val="14532D"/>
                </a:solidFill>
                <a:latin typeface="Cambria" pitchFamily="34" charset="0"/>
                <a:ea typeface="Cambria" pitchFamily="34" charset="-122"/>
                <a:cs typeface="Cambria" pitchFamily="34" charset="-120"/>
              </a:rPr>
              <a:t>Szeged, Hongrie</a:t>
            </a:r>
            <a:endParaRPr lang="en-US" sz="2200" dirty="0"/>
          </a:p>
        </p:txBody>
      </p:sp>
      <p:sp>
        <p:nvSpPr>
          <p:cNvPr id="11" name="Text 8"/>
          <p:cNvSpPr/>
          <p:nvPr/>
        </p:nvSpPr>
        <p:spPr>
          <a:xfrm>
            <a:off x="594360" y="3063240"/>
            <a:ext cx="2194560" cy="54864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Ville couverte</a:t>
            </a:r>
            <a:endParaRPr lang="en-US" sz="1200" dirty="0"/>
          </a:p>
        </p:txBody>
      </p:sp>
      <p:sp>
        <p:nvSpPr>
          <p:cNvPr id="12" name="Shape 9"/>
          <p:cNvSpPr/>
          <p:nvPr/>
        </p:nvSpPr>
        <p:spPr>
          <a:xfrm>
            <a:off x="3182112" y="2148840"/>
            <a:ext cx="2468880" cy="1554480"/>
          </a:xfrm>
          <a:prstGeom prst="roundRect">
            <a:avLst>
              <a:gd name="adj" fmla="val 4706"/>
            </a:avLst>
          </a:prstGeom>
          <a:solidFill>
            <a:srgbClr val="F3FBF6"/>
          </a:solidFill>
          <a:ln/>
        </p:spPr>
        <p:txBody>
          <a:bodyPr/>
          <a:lstStyle/>
          <a:p>
            <a:endParaRPr lang="fr-FR"/>
          </a:p>
        </p:txBody>
      </p:sp>
      <p:sp>
        <p:nvSpPr>
          <p:cNvPr id="13" name="Text 10"/>
          <p:cNvSpPr/>
          <p:nvPr/>
        </p:nvSpPr>
        <p:spPr>
          <a:xfrm>
            <a:off x="3182112" y="2331720"/>
            <a:ext cx="2468880" cy="731520"/>
          </a:xfrm>
          <a:prstGeom prst="rect">
            <a:avLst/>
          </a:prstGeom>
          <a:noFill/>
          <a:ln/>
        </p:spPr>
        <p:txBody>
          <a:bodyPr wrap="square" rtlCol="0" anchor="ctr"/>
          <a:lstStyle/>
          <a:p>
            <a:pPr marL="0" indent="0" algn="ctr">
              <a:buNone/>
            </a:pPr>
            <a:r>
              <a:rPr lang="en-US" sz="2200" b="1" dirty="0">
                <a:solidFill>
                  <a:srgbClr val="14532D"/>
                </a:solidFill>
                <a:latin typeface="Cambria" pitchFamily="34" charset="0"/>
                <a:ea typeface="Cambria" pitchFamily="34" charset="-122"/>
                <a:cs typeface="Cambria" pitchFamily="34" charset="-120"/>
              </a:rPr>
              <a:t>2006 – 2016</a:t>
            </a:r>
            <a:endParaRPr lang="en-US" sz="2200" dirty="0"/>
          </a:p>
        </p:txBody>
      </p:sp>
      <p:sp>
        <p:nvSpPr>
          <p:cNvPr id="14" name="Text 11"/>
          <p:cNvSpPr/>
          <p:nvPr/>
        </p:nvSpPr>
        <p:spPr>
          <a:xfrm>
            <a:off x="3319272" y="3063240"/>
            <a:ext cx="2194560" cy="54864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Période couverte</a:t>
            </a:r>
            <a:endParaRPr lang="en-US" sz="1200" dirty="0"/>
          </a:p>
        </p:txBody>
      </p:sp>
      <p:sp>
        <p:nvSpPr>
          <p:cNvPr id="15" name="Shape 12"/>
          <p:cNvSpPr/>
          <p:nvPr/>
        </p:nvSpPr>
        <p:spPr>
          <a:xfrm>
            <a:off x="5907024" y="2148840"/>
            <a:ext cx="2468880" cy="1554480"/>
          </a:xfrm>
          <a:prstGeom prst="roundRect">
            <a:avLst>
              <a:gd name="adj" fmla="val 4706"/>
            </a:avLst>
          </a:prstGeom>
          <a:solidFill>
            <a:srgbClr val="F3FBF6"/>
          </a:solidFill>
          <a:ln/>
        </p:spPr>
        <p:txBody>
          <a:bodyPr/>
          <a:lstStyle/>
          <a:p>
            <a:endParaRPr lang="fr-FR"/>
          </a:p>
        </p:txBody>
      </p:sp>
      <p:sp>
        <p:nvSpPr>
          <p:cNvPr id="16" name="Text 13"/>
          <p:cNvSpPr/>
          <p:nvPr/>
        </p:nvSpPr>
        <p:spPr>
          <a:xfrm>
            <a:off x="5907024" y="2331720"/>
            <a:ext cx="2468880" cy="731520"/>
          </a:xfrm>
          <a:prstGeom prst="rect">
            <a:avLst/>
          </a:prstGeom>
          <a:noFill/>
          <a:ln/>
        </p:spPr>
        <p:txBody>
          <a:bodyPr wrap="square" rtlCol="0" anchor="ctr"/>
          <a:lstStyle/>
          <a:p>
            <a:pPr marL="0" indent="0" algn="ctr">
              <a:buNone/>
            </a:pPr>
            <a:r>
              <a:rPr lang="en-US" sz="2200" b="1" dirty="0">
                <a:solidFill>
                  <a:srgbClr val="14532D"/>
                </a:solidFill>
                <a:latin typeface="Cambria" pitchFamily="34" charset="0"/>
                <a:ea typeface="Cambria" pitchFamily="34" charset="-122"/>
                <a:cs typeface="Cambria" pitchFamily="34" charset="-120"/>
              </a:rPr>
              <a:t>96 453</a:t>
            </a:r>
            <a:endParaRPr lang="en-US" sz="2200" dirty="0"/>
          </a:p>
        </p:txBody>
      </p:sp>
      <p:sp>
        <p:nvSpPr>
          <p:cNvPr id="17" name="Text 14"/>
          <p:cNvSpPr/>
          <p:nvPr/>
        </p:nvSpPr>
        <p:spPr>
          <a:xfrm>
            <a:off x="6044184" y="3063240"/>
            <a:ext cx="2194560" cy="54864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Relevés horaires bruts</a:t>
            </a:r>
            <a:endParaRPr lang="en-US" sz="1200" dirty="0"/>
          </a:p>
        </p:txBody>
      </p:sp>
      <p:sp>
        <p:nvSpPr>
          <p:cNvPr id="18" name="Shape 15"/>
          <p:cNvSpPr/>
          <p:nvPr/>
        </p:nvSpPr>
        <p:spPr>
          <a:xfrm>
            <a:off x="8631936" y="2148840"/>
            <a:ext cx="2468880" cy="1554480"/>
          </a:xfrm>
          <a:prstGeom prst="roundRect">
            <a:avLst>
              <a:gd name="adj" fmla="val 4706"/>
            </a:avLst>
          </a:prstGeom>
          <a:solidFill>
            <a:srgbClr val="F3FBF6"/>
          </a:solidFill>
          <a:ln/>
        </p:spPr>
        <p:txBody>
          <a:bodyPr/>
          <a:lstStyle/>
          <a:p>
            <a:endParaRPr lang="fr-FR"/>
          </a:p>
        </p:txBody>
      </p:sp>
      <p:sp>
        <p:nvSpPr>
          <p:cNvPr id="19" name="Text 16"/>
          <p:cNvSpPr/>
          <p:nvPr/>
        </p:nvSpPr>
        <p:spPr>
          <a:xfrm>
            <a:off x="8631936" y="2331720"/>
            <a:ext cx="2468880" cy="731520"/>
          </a:xfrm>
          <a:prstGeom prst="rect">
            <a:avLst/>
          </a:prstGeom>
          <a:noFill/>
          <a:ln/>
        </p:spPr>
        <p:txBody>
          <a:bodyPr wrap="square" rtlCol="0" anchor="ctr"/>
          <a:lstStyle/>
          <a:p>
            <a:pPr marL="0" indent="0" algn="ctr">
              <a:buNone/>
            </a:pPr>
            <a:r>
              <a:rPr lang="en-US" sz="2200" b="1" dirty="0">
                <a:solidFill>
                  <a:srgbClr val="14532D"/>
                </a:solidFill>
                <a:latin typeface="Cambria" pitchFamily="34" charset="0"/>
                <a:ea typeface="Cambria" pitchFamily="34" charset="-122"/>
                <a:cs typeface="Cambria" pitchFamily="34" charset="-120"/>
              </a:rPr>
              <a:t>12 → 11</a:t>
            </a:r>
            <a:endParaRPr lang="en-US" sz="2200" dirty="0"/>
          </a:p>
        </p:txBody>
      </p:sp>
      <p:sp>
        <p:nvSpPr>
          <p:cNvPr id="20" name="Text 17"/>
          <p:cNvSpPr/>
          <p:nvPr/>
        </p:nvSpPr>
        <p:spPr>
          <a:xfrm>
            <a:off x="8769096" y="3063240"/>
            <a:ext cx="2194560" cy="548640"/>
          </a:xfrm>
          <a:prstGeom prst="rect">
            <a:avLst/>
          </a:prstGeom>
          <a:noFill/>
          <a:ln/>
        </p:spPr>
        <p:txBody>
          <a:bodyPr wrap="square"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Colonnes avant / après nettoyage</a:t>
            </a:r>
            <a:endParaRPr lang="en-US" sz="1200" dirty="0"/>
          </a:p>
        </p:txBody>
      </p:sp>
      <p:sp>
        <p:nvSpPr>
          <p:cNvPr id="21" name="Text 18"/>
          <p:cNvSpPr/>
          <p:nvPr/>
        </p:nvSpPr>
        <p:spPr>
          <a:xfrm>
            <a:off x="457200" y="4114800"/>
            <a:ext cx="11277295" cy="822960"/>
          </a:xfrm>
          <a:prstGeom prst="rect">
            <a:avLst/>
          </a:prstGeom>
          <a:noFill/>
          <a:ln/>
        </p:spPr>
        <p:txBody>
          <a:bodyPr wrap="square" rtlCol="0" anchor="t"/>
          <a:lstStyle/>
          <a:p>
            <a:pPr marL="0" indent="0">
              <a:lnSpc>
                <a:spcPct val="115000"/>
              </a:lnSpc>
              <a:buNone/>
            </a:pPr>
            <a:r>
              <a:rPr lang="en-US" sz="1400" dirty="0">
                <a:solidFill>
                  <a:srgbClr val="1F2937"/>
                </a:solidFill>
                <a:latin typeface="Calibri" pitchFamily="34" charset="0"/>
                <a:ea typeface="Calibri" pitchFamily="34" charset="-122"/>
                <a:cs typeface="Calibri" pitchFamily="34" charset="-120"/>
              </a:rPr>
              <a:t>Variables : température, température ressentie, humidité, vitesse et direction du vent, visibilité, pression atmosphérique, type de précipitation, résumé texte des conditions.</a:t>
            </a:r>
            <a:endParaRPr lang="en-US" sz="1400" dirty="0"/>
          </a:p>
        </p:txBody>
      </p:sp>
      <p:sp>
        <p:nvSpPr>
          <p:cNvPr id="22" name="Text 19"/>
          <p:cNvSpPr/>
          <p:nvPr/>
        </p:nvSpPr>
        <p:spPr>
          <a:xfrm>
            <a:off x="457200" y="5029200"/>
            <a:ext cx="11277295" cy="914400"/>
          </a:xfrm>
          <a:prstGeom prst="rect">
            <a:avLst/>
          </a:prstGeom>
          <a:noFill/>
          <a:ln/>
        </p:spPr>
        <p:txBody>
          <a:bodyPr wrap="square" rtlCol="0" anchor="t"/>
          <a:lstStyle/>
          <a:p>
            <a:pPr marL="0" indent="0">
              <a:lnSpc>
                <a:spcPct val="115000"/>
              </a:lnSpc>
              <a:buNone/>
            </a:pPr>
            <a:r>
              <a:rPr lang="en-US" sz="1400" dirty="0">
                <a:solidFill>
                  <a:srgbClr val="1F2937"/>
                </a:solidFill>
                <a:latin typeface="Calibri" pitchFamily="34" charset="0"/>
                <a:ea typeface="Calibri" pitchFamily="34" charset="-122"/>
                <a:cs typeface="Calibri" pitchFamily="34" charset="-120"/>
              </a:rPr>
              <a:t>Difficultés typiques rencontrées : valeurs manquantes, erreurs de capteur (pression à 0 mbar), doublons, colonne non informative.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600" b="1" dirty="0">
                <a:solidFill>
                  <a:srgbClr val="0F3D28"/>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Architecture &amp; stack technique</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Architecture globale du pipeline et services Docker qui la composent.</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pPr algn="ctr"/>
            <a:r>
              <a:rPr lang="en-US" sz="1500" b="1" dirty="0">
                <a:latin typeface="Calibri" pitchFamily="34" charset="0"/>
                <a:ea typeface="Calibri" pitchFamily="34" charset="-122"/>
                <a:cs typeface="Calibri" pitchFamily="34" charset="-120"/>
              </a:rPr>
              <a:t> </a:t>
            </a:r>
            <a:r>
              <a:rPr lang="en-US" sz="1500" i="1" dirty="0" err="1">
                <a:solidFill>
                  <a:srgbClr val="CFEFDD"/>
                </a:solidFill>
                <a:latin typeface="Calibri" pitchFamily="34" charset="0"/>
                <a:ea typeface="Calibri" pitchFamily="34" charset="-122"/>
                <a:cs typeface="Calibri" pitchFamily="34" charset="-120"/>
              </a:rPr>
              <a:t>Mortalla</a:t>
            </a:r>
            <a:r>
              <a:rPr lang="en-US" sz="1500" i="1" dirty="0">
                <a:solidFill>
                  <a:srgbClr val="CFEFDD"/>
                </a:solidFill>
                <a:latin typeface="Calibri" pitchFamily="34" charset="0"/>
                <a:ea typeface="Calibri" pitchFamily="34" charset="-122"/>
                <a:cs typeface="Calibri" pitchFamily="34" charset="-120"/>
              </a:rPr>
              <a:t> TOURE</a:t>
            </a:r>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01</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architecture.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Architecture globale</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Shape 5"/>
          <p:cNvSpPr/>
          <p:nvPr/>
        </p:nvSpPr>
        <p:spPr>
          <a:xfrm>
            <a:off x="457200" y="2377440"/>
            <a:ext cx="1391586" cy="1371600"/>
          </a:xfrm>
          <a:prstGeom prst="roundRect">
            <a:avLst>
              <a:gd name="adj" fmla="val 5333"/>
            </a:avLst>
          </a:prstGeom>
          <a:solidFill>
            <a:srgbClr val="E3F5EA"/>
          </a:solidFill>
          <a:ln w="9525">
            <a:solidFill>
              <a:srgbClr val="14532D"/>
            </a:solidFill>
            <a:prstDash val="solid"/>
          </a:ln>
        </p:spPr>
        <p:txBody>
          <a:bodyPr/>
          <a:lstStyle/>
          <a:p>
            <a:endParaRPr lang="fr-FR"/>
          </a:p>
        </p:txBody>
      </p:sp>
      <p:sp>
        <p:nvSpPr>
          <p:cNvPr id="9" name="Text 6"/>
          <p:cNvSpPr/>
          <p:nvPr/>
        </p:nvSpPr>
        <p:spPr>
          <a:xfrm>
            <a:off x="502920" y="2377440"/>
            <a:ext cx="1300146" cy="1371600"/>
          </a:xfrm>
          <a:prstGeom prst="rect">
            <a:avLst/>
          </a:prstGeom>
          <a:noFill/>
          <a:ln/>
        </p:spPr>
        <p:txBody>
          <a:bodyPr wrap="square" rtlCol="0" anchor="ctr"/>
          <a:lstStyle/>
          <a:p>
            <a:pPr marL="0" indent="0" algn="ctr">
              <a:buNone/>
            </a:pPr>
            <a:r>
              <a:rPr lang="en-US" sz="1150" b="1" dirty="0">
                <a:solidFill>
                  <a:srgbClr val="14532D"/>
                </a:solidFill>
                <a:latin typeface="Calibri" pitchFamily="34" charset="0"/>
                <a:ea typeface="Calibri" pitchFamily="34" charset="-122"/>
                <a:cs typeface="Calibri" pitchFamily="34" charset="-120"/>
              </a:rPr>
              <a:t>Kaggle</a:t>
            </a:r>
            <a:endParaRPr lang="en-US" sz="1150" dirty="0"/>
          </a:p>
          <a:p>
            <a:pPr marL="0" indent="0" algn="ctr">
              <a:buNone/>
            </a:pPr>
            <a:r>
              <a:rPr lang="en-US" sz="1150" b="1" dirty="0">
                <a:solidFill>
                  <a:srgbClr val="14532D"/>
                </a:solidFill>
                <a:latin typeface="Calibri" pitchFamily="34" charset="0"/>
                <a:ea typeface="Calibri" pitchFamily="34" charset="-122"/>
                <a:cs typeface="Calibri" pitchFamily="34" charset="-120"/>
              </a:rPr>
              <a:t>dataset</a:t>
            </a:r>
            <a:endParaRPr lang="en-US" sz="1150" dirty="0"/>
          </a:p>
        </p:txBody>
      </p:sp>
      <p:sp>
        <p:nvSpPr>
          <p:cNvPr id="10" name="Shape 7"/>
          <p:cNvSpPr/>
          <p:nvPr/>
        </p:nvSpPr>
        <p:spPr>
          <a:xfrm>
            <a:off x="1848786" y="2980944"/>
            <a:ext cx="256032" cy="164592"/>
          </a:xfrm>
          <a:prstGeom prst="rightArrow">
            <a:avLst/>
          </a:prstGeom>
          <a:solidFill>
            <a:srgbClr val="14532D"/>
          </a:solidFill>
          <a:ln/>
        </p:spPr>
        <p:txBody>
          <a:bodyPr/>
          <a:lstStyle/>
          <a:p>
            <a:endParaRPr lang="fr-FR"/>
          </a:p>
        </p:txBody>
      </p:sp>
      <p:sp>
        <p:nvSpPr>
          <p:cNvPr id="11" name="Shape 8"/>
          <p:cNvSpPr/>
          <p:nvPr/>
        </p:nvSpPr>
        <p:spPr>
          <a:xfrm>
            <a:off x="2104818" y="2377440"/>
            <a:ext cx="1391586" cy="1371600"/>
          </a:xfrm>
          <a:prstGeom prst="roundRect">
            <a:avLst>
              <a:gd name="adj" fmla="val 5333"/>
            </a:avLst>
          </a:prstGeom>
          <a:solidFill>
            <a:srgbClr val="E3F5EA"/>
          </a:solidFill>
          <a:ln w="9525">
            <a:solidFill>
              <a:srgbClr val="14532D"/>
            </a:solidFill>
            <a:prstDash val="solid"/>
          </a:ln>
        </p:spPr>
        <p:txBody>
          <a:bodyPr/>
          <a:lstStyle/>
          <a:p>
            <a:endParaRPr lang="fr-FR"/>
          </a:p>
        </p:txBody>
      </p:sp>
      <p:sp>
        <p:nvSpPr>
          <p:cNvPr id="12" name="Text 9"/>
          <p:cNvSpPr/>
          <p:nvPr/>
        </p:nvSpPr>
        <p:spPr>
          <a:xfrm>
            <a:off x="2150538" y="2377440"/>
            <a:ext cx="1300146" cy="1371600"/>
          </a:xfrm>
          <a:prstGeom prst="rect">
            <a:avLst/>
          </a:prstGeom>
          <a:noFill/>
          <a:ln/>
        </p:spPr>
        <p:txBody>
          <a:bodyPr wrap="square" rtlCol="0" anchor="ctr"/>
          <a:lstStyle/>
          <a:p>
            <a:pPr marL="0" indent="0" algn="ctr">
              <a:buNone/>
            </a:pPr>
            <a:r>
              <a:rPr lang="en-US" sz="1150" b="1" dirty="0">
                <a:solidFill>
                  <a:srgbClr val="14532D"/>
                </a:solidFill>
                <a:latin typeface="Calibri" pitchFamily="34" charset="0"/>
                <a:ea typeface="Calibri" pitchFamily="34" charset="-122"/>
                <a:cs typeface="Calibri" pitchFamily="34" charset="-120"/>
              </a:rPr>
              <a:t>Extract</a:t>
            </a:r>
            <a:endParaRPr lang="en-US" sz="1150" dirty="0"/>
          </a:p>
          <a:p>
            <a:pPr marL="0" indent="0" algn="ctr">
              <a:buNone/>
            </a:pPr>
            <a:r>
              <a:rPr lang="en-US" sz="1150" b="1" dirty="0">
                <a:solidFill>
                  <a:srgbClr val="14532D"/>
                </a:solidFill>
                <a:latin typeface="Calibri" pitchFamily="34" charset="0"/>
                <a:ea typeface="Calibri" pitchFamily="34" charset="-122"/>
                <a:cs typeface="Calibri" pitchFamily="34" charset="-120"/>
              </a:rPr>
              <a:t>(Python)</a:t>
            </a:r>
            <a:endParaRPr lang="en-US" sz="1150" dirty="0"/>
          </a:p>
        </p:txBody>
      </p:sp>
      <p:sp>
        <p:nvSpPr>
          <p:cNvPr id="13" name="Shape 10"/>
          <p:cNvSpPr/>
          <p:nvPr/>
        </p:nvSpPr>
        <p:spPr>
          <a:xfrm>
            <a:off x="3496404" y="2980944"/>
            <a:ext cx="256032" cy="164592"/>
          </a:xfrm>
          <a:prstGeom prst="rightArrow">
            <a:avLst/>
          </a:prstGeom>
          <a:solidFill>
            <a:srgbClr val="14532D"/>
          </a:solidFill>
          <a:ln/>
        </p:spPr>
        <p:txBody>
          <a:bodyPr/>
          <a:lstStyle/>
          <a:p>
            <a:endParaRPr lang="fr-FR"/>
          </a:p>
        </p:txBody>
      </p:sp>
      <p:sp>
        <p:nvSpPr>
          <p:cNvPr id="14" name="Shape 11"/>
          <p:cNvSpPr/>
          <p:nvPr/>
        </p:nvSpPr>
        <p:spPr>
          <a:xfrm>
            <a:off x="3752436" y="2377440"/>
            <a:ext cx="1391586" cy="1371600"/>
          </a:xfrm>
          <a:prstGeom prst="roundRect">
            <a:avLst>
              <a:gd name="adj" fmla="val 5333"/>
            </a:avLst>
          </a:prstGeom>
          <a:solidFill>
            <a:srgbClr val="E3F5EA"/>
          </a:solidFill>
          <a:ln w="9525">
            <a:solidFill>
              <a:srgbClr val="14532D"/>
            </a:solidFill>
            <a:prstDash val="solid"/>
          </a:ln>
        </p:spPr>
        <p:txBody>
          <a:bodyPr/>
          <a:lstStyle/>
          <a:p>
            <a:endParaRPr lang="fr-FR"/>
          </a:p>
        </p:txBody>
      </p:sp>
      <p:sp>
        <p:nvSpPr>
          <p:cNvPr id="15" name="Text 12"/>
          <p:cNvSpPr/>
          <p:nvPr/>
        </p:nvSpPr>
        <p:spPr>
          <a:xfrm>
            <a:off x="3798156" y="2377440"/>
            <a:ext cx="1300146" cy="1371600"/>
          </a:xfrm>
          <a:prstGeom prst="rect">
            <a:avLst/>
          </a:prstGeom>
          <a:noFill/>
          <a:ln/>
        </p:spPr>
        <p:txBody>
          <a:bodyPr wrap="square" rtlCol="0" anchor="ctr"/>
          <a:lstStyle/>
          <a:p>
            <a:pPr marL="0" indent="0" algn="ctr">
              <a:buNone/>
            </a:pPr>
            <a:r>
              <a:rPr lang="en-US" sz="1150" b="1" dirty="0">
                <a:solidFill>
                  <a:srgbClr val="14532D"/>
                </a:solidFill>
                <a:latin typeface="Calibri" pitchFamily="34" charset="0"/>
                <a:ea typeface="Calibri" pitchFamily="34" charset="-122"/>
                <a:cs typeface="Calibri" pitchFamily="34" charset="-120"/>
              </a:rPr>
              <a:t>MinIO</a:t>
            </a:r>
            <a:endParaRPr lang="en-US" sz="1150" dirty="0"/>
          </a:p>
          <a:p>
            <a:pPr marL="0" indent="0" algn="ctr">
              <a:buNone/>
            </a:pPr>
            <a:r>
              <a:rPr lang="en-US" sz="1150" b="1" dirty="0">
                <a:solidFill>
                  <a:srgbClr val="14532D"/>
                </a:solidFill>
                <a:latin typeface="Calibri" pitchFamily="34" charset="0"/>
                <a:ea typeface="Calibri" pitchFamily="34" charset="-122"/>
                <a:cs typeface="Calibri" pitchFamily="34" charset="-120"/>
              </a:rPr>
              <a:t>weather-lake</a:t>
            </a:r>
            <a:endParaRPr lang="en-US" sz="1150" dirty="0"/>
          </a:p>
        </p:txBody>
      </p:sp>
      <p:sp>
        <p:nvSpPr>
          <p:cNvPr id="16" name="Shape 13"/>
          <p:cNvSpPr/>
          <p:nvPr/>
        </p:nvSpPr>
        <p:spPr>
          <a:xfrm>
            <a:off x="5144023" y="2980944"/>
            <a:ext cx="256032" cy="164592"/>
          </a:xfrm>
          <a:prstGeom prst="rightArrow">
            <a:avLst/>
          </a:prstGeom>
          <a:solidFill>
            <a:srgbClr val="14532D"/>
          </a:solidFill>
          <a:ln/>
        </p:spPr>
        <p:txBody>
          <a:bodyPr/>
          <a:lstStyle/>
          <a:p>
            <a:endParaRPr lang="fr-FR"/>
          </a:p>
        </p:txBody>
      </p:sp>
      <p:sp>
        <p:nvSpPr>
          <p:cNvPr id="17" name="Shape 14"/>
          <p:cNvSpPr/>
          <p:nvPr/>
        </p:nvSpPr>
        <p:spPr>
          <a:xfrm>
            <a:off x="5400055" y="2377440"/>
            <a:ext cx="1391586" cy="1371600"/>
          </a:xfrm>
          <a:prstGeom prst="roundRect">
            <a:avLst>
              <a:gd name="adj" fmla="val 5333"/>
            </a:avLst>
          </a:prstGeom>
          <a:solidFill>
            <a:srgbClr val="E3F5EA"/>
          </a:solidFill>
          <a:ln w="9525">
            <a:solidFill>
              <a:srgbClr val="14532D"/>
            </a:solidFill>
            <a:prstDash val="solid"/>
          </a:ln>
        </p:spPr>
        <p:txBody>
          <a:bodyPr/>
          <a:lstStyle/>
          <a:p>
            <a:endParaRPr lang="fr-FR"/>
          </a:p>
        </p:txBody>
      </p:sp>
      <p:sp>
        <p:nvSpPr>
          <p:cNvPr id="18" name="Text 15"/>
          <p:cNvSpPr/>
          <p:nvPr/>
        </p:nvSpPr>
        <p:spPr>
          <a:xfrm>
            <a:off x="5445775" y="2377440"/>
            <a:ext cx="1300146" cy="1371600"/>
          </a:xfrm>
          <a:prstGeom prst="rect">
            <a:avLst/>
          </a:prstGeom>
          <a:noFill/>
          <a:ln/>
        </p:spPr>
        <p:txBody>
          <a:bodyPr wrap="square" rtlCol="0" anchor="ctr"/>
          <a:lstStyle/>
          <a:p>
            <a:pPr marL="0" indent="0" algn="ctr">
              <a:buNone/>
            </a:pPr>
            <a:r>
              <a:rPr lang="en-US" sz="1150" b="1" dirty="0">
                <a:solidFill>
                  <a:srgbClr val="14532D"/>
                </a:solidFill>
                <a:latin typeface="Calibri" pitchFamily="34" charset="0"/>
                <a:ea typeface="Calibri" pitchFamily="34" charset="-122"/>
                <a:cs typeface="Calibri" pitchFamily="34" charset="-120"/>
              </a:rPr>
              <a:t>Transform</a:t>
            </a:r>
            <a:endParaRPr lang="en-US" sz="1150" dirty="0"/>
          </a:p>
          <a:p>
            <a:pPr marL="0" indent="0" algn="ctr">
              <a:buNone/>
            </a:pPr>
            <a:r>
              <a:rPr lang="en-US" sz="1150" b="1" dirty="0">
                <a:solidFill>
                  <a:srgbClr val="14532D"/>
                </a:solidFill>
                <a:latin typeface="Calibri" pitchFamily="34" charset="0"/>
                <a:ea typeface="Calibri" pitchFamily="34" charset="-122"/>
                <a:cs typeface="Calibri" pitchFamily="34" charset="-120"/>
              </a:rPr>
              <a:t>(pandas)</a:t>
            </a:r>
            <a:endParaRPr lang="en-US" sz="1150" dirty="0"/>
          </a:p>
        </p:txBody>
      </p:sp>
      <p:sp>
        <p:nvSpPr>
          <p:cNvPr id="19" name="Shape 16"/>
          <p:cNvSpPr/>
          <p:nvPr/>
        </p:nvSpPr>
        <p:spPr>
          <a:xfrm>
            <a:off x="6791641" y="2980944"/>
            <a:ext cx="256032" cy="164592"/>
          </a:xfrm>
          <a:prstGeom prst="rightArrow">
            <a:avLst/>
          </a:prstGeom>
          <a:solidFill>
            <a:srgbClr val="14532D"/>
          </a:solidFill>
          <a:ln/>
        </p:spPr>
        <p:txBody>
          <a:bodyPr/>
          <a:lstStyle/>
          <a:p>
            <a:endParaRPr lang="fr-FR"/>
          </a:p>
        </p:txBody>
      </p:sp>
      <p:sp>
        <p:nvSpPr>
          <p:cNvPr id="20" name="Shape 17"/>
          <p:cNvSpPr/>
          <p:nvPr/>
        </p:nvSpPr>
        <p:spPr>
          <a:xfrm>
            <a:off x="7047673" y="2377440"/>
            <a:ext cx="1391586" cy="1371600"/>
          </a:xfrm>
          <a:prstGeom prst="roundRect">
            <a:avLst>
              <a:gd name="adj" fmla="val 5333"/>
            </a:avLst>
          </a:prstGeom>
          <a:solidFill>
            <a:srgbClr val="E3F5EA"/>
          </a:solidFill>
          <a:ln w="9525">
            <a:solidFill>
              <a:srgbClr val="14532D"/>
            </a:solidFill>
            <a:prstDash val="solid"/>
          </a:ln>
        </p:spPr>
        <p:txBody>
          <a:bodyPr/>
          <a:lstStyle/>
          <a:p>
            <a:endParaRPr lang="fr-FR"/>
          </a:p>
        </p:txBody>
      </p:sp>
      <p:sp>
        <p:nvSpPr>
          <p:cNvPr id="21" name="Text 18"/>
          <p:cNvSpPr/>
          <p:nvPr/>
        </p:nvSpPr>
        <p:spPr>
          <a:xfrm>
            <a:off x="7093393" y="2377440"/>
            <a:ext cx="1300146" cy="1371600"/>
          </a:xfrm>
          <a:prstGeom prst="rect">
            <a:avLst/>
          </a:prstGeom>
          <a:noFill/>
          <a:ln/>
        </p:spPr>
        <p:txBody>
          <a:bodyPr wrap="square" rtlCol="0" anchor="ctr"/>
          <a:lstStyle/>
          <a:p>
            <a:pPr marL="0" indent="0" algn="ctr">
              <a:buNone/>
            </a:pPr>
            <a:r>
              <a:rPr lang="en-US" sz="1150" b="1" dirty="0">
                <a:solidFill>
                  <a:srgbClr val="14532D"/>
                </a:solidFill>
                <a:latin typeface="Calibri" pitchFamily="34" charset="0"/>
                <a:ea typeface="Calibri" pitchFamily="34" charset="-122"/>
                <a:cs typeface="Calibri" pitchFamily="34" charset="-120"/>
              </a:rPr>
              <a:t>MinIO</a:t>
            </a:r>
            <a:endParaRPr lang="en-US" sz="1150" dirty="0"/>
          </a:p>
          <a:p>
            <a:pPr marL="0" indent="0" algn="ctr">
              <a:buNone/>
            </a:pPr>
            <a:r>
              <a:rPr lang="en-US" sz="1150" b="1" dirty="0">
                <a:solidFill>
                  <a:srgbClr val="14532D"/>
                </a:solidFill>
                <a:latin typeface="Calibri" pitchFamily="34" charset="0"/>
                <a:ea typeface="Calibri" pitchFamily="34" charset="-122"/>
                <a:cs typeface="Calibri" pitchFamily="34" charset="-120"/>
              </a:rPr>
              <a:t>weather-processed</a:t>
            </a:r>
            <a:endParaRPr lang="en-US" sz="1150" dirty="0"/>
          </a:p>
        </p:txBody>
      </p:sp>
      <p:sp>
        <p:nvSpPr>
          <p:cNvPr id="22" name="Shape 19"/>
          <p:cNvSpPr/>
          <p:nvPr/>
        </p:nvSpPr>
        <p:spPr>
          <a:xfrm>
            <a:off x="8439259" y="2980944"/>
            <a:ext cx="256032" cy="164592"/>
          </a:xfrm>
          <a:prstGeom prst="rightArrow">
            <a:avLst/>
          </a:prstGeom>
          <a:solidFill>
            <a:srgbClr val="14532D"/>
          </a:solidFill>
          <a:ln/>
        </p:spPr>
        <p:txBody>
          <a:bodyPr/>
          <a:lstStyle/>
          <a:p>
            <a:endParaRPr lang="fr-FR"/>
          </a:p>
        </p:txBody>
      </p:sp>
      <p:sp>
        <p:nvSpPr>
          <p:cNvPr id="23" name="Shape 20"/>
          <p:cNvSpPr/>
          <p:nvPr/>
        </p:nvSpPr>
        <p:spPr>
          <a:xfrm>
            <a:off x="8695291" y="2377440"/>
            <a:ext cx="1391586" cy="1371600"/>
          </a:xfrm>
          <a:prstGeom prst="roundRect">
            <a:avLst>
              <a:gd name="adj" fmla="val 5333"/>
            </a:avLst>
          </a:prstGeom>
          <a:solidFill>
            <a:srgbClr val="E3F5EA"/>
          </a:solidFill>
          <a:ln w="9525">
            <a:solidFill>
              <a:srgbClr val="14532D"/>
            </a:solidFill>
            <a:prstDash val="solid"/>
          </a:ln>
        </p:spPr>
        <p:txBody>
          <a:bodyPr/>
          <a:lstStyle/>
          <a:p>
            <a:endParaRPr lang="fr-FR"/>
          </a:p>
        </p:txBody>
      </p:sp>
      <p:sp>
        <p:nvSpPr>
          <p:cNvPr id="24" name="Text 21"/>
          <p:cNvSpPr/>
          <p:nvPr/>
        </p:nvSpPr>
        <p:spPr>
          <a:xfrm>
            <a:off x="8741011" y="2377440"/>
            <a:ext cx="1300146" cy="1371600"/>
          </a:xfrm>
          <a:prstGeom prst="rect">
            <a:avLst/>
          </a:prstGeom>
          <a:noFill/>
          <a:ln/>
        </p:spPr>
        <p:txBody>
          <a:bodyPr wrap="square" rtlCol="0" anchor="ctr"/>
          <a:lstStyle/>
          <a:p>
            <a:pPr marL="0" indent="0" algn="ctr">
              <a:buNone/>
            </a:pPr>
            <a:r>
              <a:rPr lang="en-US" sz="1150" b="1" dirty="0">
                <a:solidFill>
                  <a:srgbClr val="14532D"/>
                </a:solidFill>
                <a:latin typeface="Calibri" pitchFamily="34" charset="0"/>
                <a:ea typeface="Calibri" pitchFamily="34" charset="-122"/>
                <a:cs typeface="Calibri" pitchFamily="34" charset="-120"/>
              </a:rPr>
              <a:t>MongoDB</a:t>
            </a:r>
            <a:endParaRPr lang="en-US" sz="1150" dirty="0"/>
          </a:p>
          <a:p>
            <a:pPr marL="0" indent="0" algn="ctr">
              <a:buNone/>
            </a:pPr>
            <a:r>
              <a:rPr lang="en-US" sz="1150" b="1" dirty="0">
                <a:solidFill>
                  <a:srgbClr val="14532D"/>
                </a:solidFill>
                <a:latin typeface="Calibri" pitchFamily="34" charset="0"/>
                <a:ea typeface="Calibri" pitchFamily="34" charset="-122"/>
                <a:cs typeface="Calibri" pitchFamily="34" charset="-120"/>
              </a:rPr>
              <a:t>weather_dwh</a:t>
            </a:r>
            <a:endParaRPr lang="en-US" sz="1150" dirty="0"/>
          </a:p>
        </p:txBody>
      </p:sp>
      <p:sp>
        <p:nvSpPr>
          <p:cNvPr id="25" name="Shape 22"/>
          <p:cNvSpPr/>
          <p:nvPr/>
        </p:nvSpPr>
        <p:spPr>
          <a:xfrm>
            <a:off x="10086877" y="2980944"/>
            <a:ext cx="256032" cy="164592"/>
          </a:xfrm>
          <a:prstGeom prst="rightArrow">
            <a:avLst/>
          </a:prstGeom>
          <a:solidFill>
            <a:srgbClr val="14532D"/>
          </a:solidFill>
          <a:ln/>
        </p:spPr>
        <p:txBody>
          <a:bodyPr/>
          <a:lstStyle/>
          <a:p>
            <a:endParaRPr lang="fr-FR"/>
          </a:p>
        </p:txBody>
      </p:sp>
      <p:sp>
        <p:nvSpPr>
          <p:cNvPr id="26" name="Shape 23"/>
          <p:cNvSpPr/>
          <p:nvPr/>
        </p:nvSpPr>
        <p:spPr>
          <a:xfrm>
            <a:off x="10342909" y="2377440"/>
            <a:ext cx="1391586" cy="1371600"/>
          </a:xfrm>
          <a:prstGeom prst="roundRect">
            <a:avLst>
              <a:gd name="adj" fmla="val 5333"/>
            </a:avLst>
          </a:prstGeom>
          <a:solidFill>
            <a:srgbClr val="22C55E"/>
          </a:solidFill>
          <a:ln w="9525">
            <a:solidFill>
              <a:srgbClr val="14532D"/>
            </a:solidFill>
            <a:prstDash val="solid"/>
          </a:ln>
        </p:spPr>
        <p:txBody>
          <a:bodyPr/>
          <a:lstStyle/>
          <a:p>
            <a:endParaRPr lang="fr-FR"/>
          </a:p>
        </p:txBody>
      </p:sp>
      <p:sp>
        <p:nvSpPr>
          <p:cNvPr id="27" name="Text 24"/>
          <p:cNvSpPr/>
          <p:nvPr/>
        </p:nvSpPr>
        <p:spPr>
          <a:xfrm>
            <a:off x="10388629" y="2377440"/>
            <a:ext cx="1300146" cy="13716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Analyse /</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Visualisation /</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Modélisation</a:t>
            </a:r>
            <a:endParaRPr lang="en-US" sz="1150" dirty="0"/>
          </a:p>
        </p:txBody>
      </p:sp>
      <p:sp>
        <p:nvSpPr>
          <p:cNvPr id="28" name="Text 25"/>
          <p:cNvSpPr/>
          <p:nvPr/>
        </p:nvSpPr>
        <p:spPr>
          <a:xfrm>
            <a:off x="457200" y="4206240"/>
            <a:ext cx="11277295" cy="457200"/>
          </a:xfrm>
          <a:prstGeom prst="rect">
            <a:avLst/>
          </a:prstGeom>
          <a:noFill/>
          <a:ln/>
        </p:spPr>
        <p:txBody>
          <a:bodyPr wrap="square" rtlCol="0" anchor="ctr"/>
          <a:lstStyle/>
          <a:p>
            <a:pPr marL="0" indent="0" algn="ctr">
              <a:buNone/>
            </a:pPr>
            <a:r>
              <a:rPr lang="en-US" sz="1500" b="1" dirty="0">
                <a:solidFill>
                  <a:srgbClr val="14532D"/>
                </a:solidFill>
                <a:latin typeface="Calibri" pitchFamily="34" charset="0"/>
                <a:ea typeface="Calibri" pitchFamily="34" charset="-122"/>
                <a:cs typeface="Calibri" pitchFamily="34" charset="-120"/>
              </a:rPr>
              <a:t>Extract  →  Ingestion MinIO  →  Transform  →  Load MongoDB  →  Analyse / Visualisation / Modélisation</a:t>
            </a:r>
            <a:endParaRPr lang="en-US" sz="1500" dirty="0"/>
          </a:p>
        </p:txBody>
      </p:sp>
      <p:sp>
        <p:nvSpPr>
          <p:cNvPr id="29" name="Text 26"/>
          <p:cNvSpPr/>
          <p:nvPr/>
        </p:nvSpPr>
        <p:spPr>
          <a:xfrm>
            <a:off x="457200" y="4892040"/>
            <a:ext cx="11277295" cy="914400"/>
          </a:xfrm>
          <a:prstGeom prst="rect">
            <a:avLst/>
          </a:prstGeom>
          <a:noFill/>
          <a:ln/>
        </p:spPr>
        <p:txBody>
          <a:bodyPr wrap="square" rtlCol="0" anchor="t"/>
          <a:lstStyle/>
          <a:p>
            <a:pPr marL="0" indent="0">
              <a:lnSpc>
                <a:spcPct val="115000"/>
              </a:lnSpc>
              <a:buNone/>
            </a:pPr>
            <a:r>
              <a:rPr lang="en-US" sz="1350" dirty="0">
                <a:solidFill>
                  <a:srgbClr val="1F2937"/>
                </a:solidFill>
                <a:latin typeface="Calibri" pitchFamily="34" charset="0"/>
                <a:ea typeface="Calibri" pitchFamily="34" charset="-122"/>
                <a:cs typeface="Calibri" pitchFamily="34" charset="-120"/>
              </a:rPr>
              <a:t>L'ingestion s'appuie sur deux mécanismes complémentaires : un flux Apache NiFi (démonstration d'orchestration) et un script Python automatisé (pipeline de production).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01</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stack.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Stack technique  ETL</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508760"/>
            <a:ext cx="11277295" cy="45720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Trois services principaux sont orchestrés avec docker-compose.yml :</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9601200" cy="2011680"/>
        </p:xfrm>
        <a:graphic>
          <a:graphicData uri="http://schemas.openxmlformats.org/drawingml/2006/table">
            <a:tbl>
              <a:tblPr/>
              <a:tblGrid>
                <a:gridCol w="21031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02920">
                <a:tc>
                  <a:txBody>
                    <a:bodyPr/>
                    <a:lstStyle/>
                    <a:p>
                      <a:pPr marL="0" indent="0" algn="l">
                        <a:buNone/>
                      </a:pPr>
                      <a:r>
                        <a:rPr lang="en-US" sz="1400" b="1" dirty="0">
                          <a:solidFill>
                            <a:srgbClr val="FFFFFF"/>
                          </a:solidFill>
                        </a:rPr>
                        <a:t>Service</a:t>
                      </a:r>
                      <a:endParaRPr lang="en-US" sz="14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400" b="1" dirty="0">
                          <a:solidFill>
                            <a:srgbClr val="FFFFFF"/>
                          </a:solidFill>
                        </a:rPr>
                        <a:t>Image</a:t>
                      </a:r>
                      <a:endParaRPr lang="en-US" sz="14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400" b="1" dirty="0">
                          <a:solidFill>
                            <a:srgbClr val="FFFFFF"/>
                          </a:solidFill>
                        </a:rPr>
                        <a:t>Port(s)</a:t>
                      </a:r>
                      <a:endParaRPr lang="en-US" sz="14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400" b="1" dirty="0">
                          <a:solidFill>
                            <a:srgbClr val="FFFFFF"/>
                          </a:solidFill>
                        </a:rPr>
                        <a:t>Rôle</a:t>
                      </a:r>
                      <a:endParaRPr lang="en-US" sz="14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502920">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MongoDB</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onsolas" pitchFamily="34" charset="0"/>
                          <a:ea typeface="Consolas" pitchFamily="34" charset="-122"/>
                          <a:cs typeface="Consolas" pitchFamily="34" charset="-120"/>
                        </a:rPr>
                        <a:t>mongo:latest</a:t>
                      </a:r>
                      <a:endParaRPr lang="en-US" sz="140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27017</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Data Warehouse</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MinIO</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400" dirty="0">
                          <a:solidFill>
                            <a:srgbClr val="1F2937"/>
                          </a:solidFill>
                          <a:latin typeface="Consolas" pitchFamily="34" charset="0"/>
                          <a:ea typeface="Consolas" pitchFamily="34" charset="-122"/>
                          <a:cs typeface="Consolas" pitchFamily="34" charset="-120"/>
                        </a:rPr>
                        <a:t>minio/minio</a:t>
                      </a:r>
                      <a:endParaRPr lang="en-US" sz="140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9000 / 9001</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Data Lake (S3)</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r h="502920">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NiFi</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onsolas" pitchFamily="34" charset="0"/>
                          <a:ea typeface="Consolas" pitchFamily="34" charset="-122"/>
                          <a:cs typeface="Consolas" pitchFamily="34" charset="-120"/>
                        </a:rPr>
                        <a:t>apache/nifi</a:t>
                      </a:r>
                      <a:endParaRPr lang="en-US" sz="140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8443</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Orchestration ingestion</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6"/>
          <p:cNvSpPr/>
          <p:nvPr/>
        </p:nvSpPr>
        <p:spPr>
          <a:xfrm>
            <a:off x="457200" y="4023360"/>
            <a:ext cx="3657600" cy="365760"/>
          </a:xfrm>
          <a:prstGeom prst="rect">
            <a:avLst/>
          </a:prstGeom>
          <a:noFill/>
          <a:ln/>
        </p:spPr>
        <p:txBody>
          <a:bodyPr wrap="square"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Démarrage en une commande :</a:t>
            </a:r>
            <a:endParaRPr lang="en-US" sz="1400" dirty="0"/>
          </a:p>
        </p:txBody>
      </p:sp>
      <p:sp>
        <p:nvSpPr>
          <p:cNvPr id="11" name="Shape 7"/>
          <p:cNvSpPr/>
          <p:nvPr/>
        </p:nvSpPr>
        <p:spPr>
          <a:xfrm>
            <a:off x="457200" y="4434840"/>
            <a:ext cx="5029200" cy="502920"/>
          </a:xfrm>
          <a:prstGeom prst="roundRect">
            <a:avLst>
              <a:gd name="adj" fmla="val 10909"/>
            </a:avLst>
          </a:prstGeom>
          <a:solidFill>
            <a:srgbClr val="F1F3F4"/>
          </a:solidFill>
          <a:ln w="9525">
            <a:solidFill>
              <a:srgbClr val="DADFE3"/>
            </a:solidFill>
            <a:prstDash val="solid"/>
          </a:ln>
        </p:spPr>
        <p:txBody>
          <a:bodyPr/>
          <a:lstStyle/>
          <a:p>
            <a:endParaRPr lang="fr-FR"/>
          </a:p>
        </p:txBody>
      </p:sp>
      <p:sp>
        <p:nvSpPr>
          <p:cNvPr id="12" name="Text 8"/>
          <p:cNvSpPr/>
          <p:nvPr/>
        </p:nvSpPr>
        <p:spPr>
          <a:xfrm>
            <a:off x="685800" y="4572000"/>
            <a:ext cx="4572000" cy="228600"/>
          </a:xfrm>
          <a:prstGeom prst="rect">
            <a:avLst/>
          </a:prstGeom>
          <a:noFill/>
          <a:ln/>
        </p:spPr>
        <p:txBody>
          <a:bodyPr wrap="square" rtlCol="0" anchor="t"/>
          <a:lstStyle/>
          <a:p>
            <a:pPr marL="0" indent="0">
              <a:lnSpc>
                <a:spcPct val="125000"/>
              </a:lnSpc>
              <a:buNone/>
            </a:pPr>
            <a:r>
              <a:rPr lang="en-US" sz="1300" dirty="0">
                <a:solidFill>
                  <a:srgbClr val="B4232E"/>
                </a:solidFill>
                <a:latin typeface="Consolas" pitchFamily="34" charset="0"/>
                <a:ea typeface="Consolas" pitchFamily="34" charset="-122"/>
                <a:cs typeface="Consolas" pitchFamily="34" charset="-120"/>
              </a:rPr>
              <a:t>python scripts/setup.py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600" b="1" dirty="0">
                <a:solidFill>
                  <a:srgbClr val="0F3D28"/>
                </a:solidFill>
                <a:latin typeface="Cambria" pitchFamily="34" charset="0"/>
                <a:ea typeface="Cambria" pitchFamily="34" charset="-122"/>
                <a:cs typeface="Cambria" pitchFamily="34" charset="-120"/>
              </a:rPr>
              <a:t>02</a:t>
            </a:r>
            <a:endParaRPr lang="en-US" sz="26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Extraction &amp; ingestion</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Récupération du dataset source et ingestion des données brutes vers le data lake MinIO.</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pPr algn="ctr"/>
            <a:r>
              <a:rPr lang="en-US" sz="1500" i="1" dirty="0">
                <a:solidFill>
                  <a:srgbClr val="CFEFDD"/>
                </a:solidFill>
                <a:latin typeface="Calibri" pitchFamily="34" charset="0"/>
                <a:ea typeface="Calibri" pitchFamily="34" charset="-122"/>
                <a:cs typeface="Calibri" pitchFamily="34" charset="-120"/>
              </a:rPr>
              <a:t>Mouhamed CISSE</a:t>
            </a:r>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02</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extract.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Extract : récupération du dataset</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508760"/>
            <a:ext cx="11277295" cy="365760"/>
          </a:xfrm>
          <a:prstGeom prst="rect">
            <a:avLst/>
          </a:prstGeom>
          <a:noFill/>
          <a:ln/>
        </p:spPr>
        <p:txBody>
          <a:bodyPr wrap="square"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Script : etl/extract.py (via kagglehub)</a:t>
            </a:r>
            <a:endParaRPr lang="en-US" sz="1500" dirty="0"/>
          </a:p>
        </p:txBody>
      </p:sp>
      <p:sp>
        <p:nvSpPr>
          <p:cNvPr id="9" name="Shape 6"/>
          <p:cNvSpPr/>
          <p:nvPr/>
        </p:nvSpPr>
        <p:spPr>
          <a:xfrm>
            <a:off x="457200" y="1920240"/>
            <a:ext cx="11277295" cy="960120"/>
          </a:xfrm>
          <a:prstGeom prst="roundRect">
            <a:avLst>
              <a:gd name="adj" fmla="val 5714"/>
            </a:avLst>
          </a:prstGeom>
          <a:solidFill>
            <a:srgbClr val="F1F3F4"/>
          </a:solidFill>
          <a:ln w="9525">
            <a:solidFill>
              <a:srgbClr val="DADFE3"/>
            </a:solidFill>
            <a:prstDash val="solid"/>
          </a:ln>
        </p:spPr>
        <p:txBody>
          <a:bodyPr/>
          <a:lstStyle/>
          <a:p>
            <a:endParaRPr lang="fr-FR"/>
          </a:p>
        </p:txBody>
      </p:sp>
      <p:sp>
        <p:nvSpPr>
          <p:cNvPr id="10" name="Text 7"/>
          <p:cNvSpPr/>
          <p:nvPr/>
        </p:nvSpPr>
        <p:spPr>
          <a:xfrm>
            <a:off x="685800" y="2057400"/>
            <a:ext cx="10820095" cy="685800"/>
          </a:xfrm>
          <a:prstGeom prst="rect">
            <a:avLst/>
          </a:prstGeom>
          <a:noFill/>
          <a:ln/>
        </p:spPr>
        <p:txBody>
          <a:bodyPr wrap="square" rtlCol="0" anchor="t"/>
          <a:lstStyle/>
          <a:p>
            <a:pPr marL="0" indent="0">
              <a:lnSpc>
                <a:spcPct val="125000"/>
              </a:lnSpc>
              <a:buNone/>
            </a:pPr>
            <a:r>
              <a:rPr lang="en-US" sz="1300" dirty="0">
                <a:solidFill>
                  <a:srgbClr val="B4232E"/>
                </a:solidFill>
                <a:latin typeface="Consolas" pitchFamily="34" charset="0"/>
                <a:ea typeface="Consolas" pitchFamily="34" charset="-122"/>
                <a:cs typeface="Consolas" pitchFamily="34" charset="-120"/>
              </a:rPr>
              <a:t>src = kagglehub.dataset_download("muthuj7/weather-dataset")</a:t>
            </a:r>
            <a:endParaRPr lang="en-US" sz="1300" dirty="0"/>
          </a:p>
          <a:p>
            <a:pPr marL="0" indent="0">
              <a:lnSpc>
                <a:spcPct val="125000"/>
              </a:lnSpc>
              <a:buNone/>
            </a:pPr>
            <a:r>
              <a:rPr lang="en-US" sz="1300" dirty="0">
                <a:solidFill>
                  <a:srgbClr val="B4232E"/>
                </a:solidFill>
                <a:latin typeface="Consolas" pitchFamily="34" charset="0"/>
                <a:ea typeface="Consolas" pitchFamily="34" charset="-122"/>
                <a:cs typeface="Consolas" pitchFamily="34" charset="-120"/>
              </a:rPr>
              <a:t>shutil.copytree(src, Path("./data/raw"), dirs_exist_ok=True)</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3246120"/>
          <a:ext cx="8229600" cy="1828800"/>
        </p:xfrm>
        <a:graphic>
          <a:graphicData uri="http://schemas.openxmlformats.org/drawingml/2006/table">
            <a:tbl>
              <a:tblPr/>
              <a:tblGrid>
                <a:gridCol w="237744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457200">
                <a:tc>
                  <a:txBody>
                    <a:bodyPr/>
                    <a:lstStyle/>
                    <a:p>
                      <a:pPr marL="0" indent="0" algn="l">
                        <a:buNone/>
                      </a:pPr>
                      <a:r>
                        <a:rPr lang="en-US" sz="1400" b="1" dirty="0">
                          <a:solidFill>
                            <a:srgbClr val="FFFFFF"/>
                          </a:solidFill>
                        </a:rPr>
                        <a:t>Métrique</a:t>
                      </a:r>
                      <a:endParaRPr lang="en-US" sz="14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400" b="1" dirty="0">
                          <a:solidFill>
                            <a:srgbClr val="FFFFFF"/>
                          </a:solidFill>
                        </a:rPr>
                        <a:t>Valeur</a:t>
                      </a:r>
                      <a:endParaRPr lang="en-US" sz="14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457200">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onsolas" pitchFamily="34" charset="0"/>
                          <a:ea typeface="Consolas" pitchFamily="34" charset="-122"/>
                          <a:cs typeface="Consolas" pitchFamily="34" charset="-120"/>
                        </a:rPr>
                        <a:t>Kaggle — muthuj7/weather-dataset</a:t>
                      </a:r>
                      <a:endParaRPr lang="en-US" sz="140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Fichier</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400" dirty="0">
                          <a:solidFill>
                            <a:srgbClr val="1F2937"/>
                          </a:solidFill>
                          <a:latin typeface="Consolas" pitchFamily="34" charset="0"/>
                          <a:ea typeface="Consolas" pitchFamily="34" charset="-122"/>
                          <a:cs typeface="Consolas" pitchFamily="34" charset="-120"/>
                        </a:rPr>
                        <a:t>weatherHistory.csv</a:t>
                      </a:r>
                      <a:endParaRPr lang="en-US" sz="140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r h="457200">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Lignes brutes</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onsolas" pitchFamily="34" charset="0"/>
                          <a:ea typeface="Consolas" pitchFamily="34" charset="-122"/>
                          <a:cs typeface="Consolas" pitchFamily="34" charset="-120"/>
                        </a:rPr>
                        <a:t>96 453 · 12 colonnes</a:t>
                      </a:r>
                      <a:endParaRPr lang="en-US" sz="140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02</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ingestion.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Ingestion vers MinIO</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36576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Deux mécanismes écrivent le CSV brut dans le bucket weather-lake :</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9144000" cy="1508760"/>
        </p:xfrm>
        <a:graphic>
          <a:graphicData uri="http://schemas.openxmlformats.org/drawingml/2006/table">
            <a:tbl>
              <a:tblPr/>
              <a:tblGrid>
                <a:gridCol w="3108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502920">
                <a:tc>
                  <a:txBody>
                    <a:bodyPr/>
                    <a:lstStyle/>
                    <a:p>
                      <a:pPr marL="0" indent="0" algn="l">
                        <a:buNone/>
                      </a:pPr>
                      <a:r>
                        <a:rPr lang="en-US" sz="1300" b="1" dirty="0">
                          <a:solidFill>
                            <a:srgbClr val="FFFFFF"/>
                          </a:solidFill>
                        </a:rPr>
                        <a:t>Mécanisme</a:t>
                      </a:r>
                      <a:endParaRPr lang="en-US" sz="13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300" b="1" dirty="0">
                          <a:solidFill>
                            <a:srgbClr val="FFFFFF"/>
                          </a:solidFill>
                        </a:rPr>
                        <a:t>Usage</a:t>
                      </a:r>
                      <a:endParaRPr lang="en-US" sz="13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300" b="1" dirty="0">
                          <a:solidFill>
                            <a:srgbClr val="FFFFFF"/>
                          </a:solidFill>
                        </a:rPr>
                        <a:t>Destination</a:t>
                      </a:r>
                      <a:endParaRPr lang="en-US" sz="13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50292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NiFi GetFile → PutS3Object</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Démonstration d'orchestration</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F2937"/>
                          </a:solidFill>
                          <a:latin typeface="Consolas" pitchFamily="34" charset="0"/>
                          <a:ea typeface="Consolas" pitchFamily="34" charset="-122"/>
                          <a:cs typeface="Consolas" pitchFamily="34" charset="-120"/>
                        </a:rPr>
                        <a:t>weather-lake/raw/</a:t>
                      </a:r>
                      <a:endParaRPr lang="en-US" sz="130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Python (upload_raw_to_minio)</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00" dirty="0">
                          <a:solidFill>
                            <a:srgbClr val="1F2937"/>
                          </a:solidFill>
                          <a:latin typeface="Calibri" pitchFamily="34" charset="0"/>
                          <a:ea typeface="Calibri" pitchFamily="34" charset="-122"/>
                          <a:cs typeface="Calibri" pitchFamily="34" charset="-120"/>
                        </a:rPr>
                        <a:t>Pipeline automatisé</a:t>
                      </a:r>
                      <a:endParaRPr lang="en-US" sz="13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00" dirty="0">
                          <a:solidFill>
                            <a:srgbClr val="1F2937"/>
                          </a:solidFill>
                          <a:latin typeface="Consolas" pitchFamily="34" charset="0"/>
                          <a:ea typeface="Consolas" pitchFamily="34" charset="-122"/>
                          <a:cs typeface="Consolas" pitchFamily="34" charset="-120"/>
                        </a:rPr>
                        <a:t>weather-lake/raw/</a:t>
                      </a:r>
                      <a:endParaRPr lang="en-US" sz="130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bl>
          </a:graphicData>
        </a:graphic>
      </p:graphicFrame>
      <p:sp>
        <p:nvSpPr>
          <p:cNvPr id="10" name="Text 6"/>
          <p:cNvSpPr/>
          <p:nvPr/>
        </p:nvSpPr>
        <p:spPr>
          <a:xfrm>
            <a:off x="457200" y="3200400"/>
            <a:ext cx="5486400" cy="365760"/>
          </a:xfrm>
          <a:prstGeom prst="rect">
            <a:avLst/>
          </a:prstGeom>
          <a:noFill/>
          <a:ln/>
        </p:spPr>
        <p:txBody>
          <a:bodyPr wrap="square"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Flux d'ingestion NiFi vers MinIO :</a:t>
            </a:r>
            <a:endParaRPr lang="en-US" sz="1400" dirty="0"/>
          </a:p>
        </p:txBody>
      </p:sp>
      <p:sp>
        <p:nvSpPr>
          <p:cNvPr id="11" name="Shape 7"/>
          <p:cNvSpPr/>
          <p:nvPr/>
        </p:nvSpPr>
        <p:spPr>
          <a:xfrm>
            <a:off x="457200" y="3657600"/>
            <a:ext cx="1666189" cy="1051560"/>
          </a:xfrm>
          <a:prstGeom prst="roundRect">
            <a:avLst>
              <a:gd name="adj" fmla="val 6957"/>
            </a:avLst>
          </a:prstGeom>
          <a:solidFill>
            <a:srgbClr val="E3F5EA"/>
          </a:solidFill>
          <a:ln w="9525">
            <a:solidFill>
              <a:srgbClr val="14532D"/>
            </a:solidFill>
            <a:prstDash val="solid"/>
          </a:ln>
        </p:spPr>
        <p:txBody>
          <a:bodyPr/>
          <a:lstStyle/>
          <a:p>
            <a:endParaRPr lang="fr-FR"/>
          </a:p>
        </p:txBody>
      </p:sp>
      <p:sp>
        <p:nvSpPr>
          <p:cNvPr id="12" name="Text 8"/>
          <p:cNvSpPr/>
          <p:nvPr/>
        </p:nvSpPr>
        <p:spPr>
          <a:xfrm>
            <a:off x="502920" y="3657600"/>
            <a:ext cx="1574749" cy="1051560"/>
          </a:xfrm>
          <a:prstGeom prst="rect">
            <a:avLst/>
          </a:prstGeom>
          <a:noFill/>
          <a:ln/>
        </p:spPr>
        <p:txBody>
          <a:bodyPr wrap="square" rtlCol="0" anchor="ctr"/>
          <a:lstStyle/>
          <a:p>
            <a:pPr marL="0" indent="0" algn="ctr">
              <a:buNone/>
            </a:pPr>
            <a:r>
              <a:rPr lang="en-US" sz="1150" b="1" dirty="0">
                <a:solidFill>
                  <a:srgbClr val="14532D"/>
                </a:solidFill>
                <a:latin typeface="Calibri" pitchFamily="34" charset="0"/>
                <a:ea typeface="Calibri" pitchFamily="34" charset="-122"/>
                <a:cs typeface="Calibri" pitchFamily="34" charset="-120"/>
              </a:rPr>
              <a:t>extract.py</a:t>
            </a:r>
            <a:endParaRPr lang="en-US" sz="1150" dirty="0"/>
          </a:p>
        </p:txBody>
      </p:sp>
      <p:sp>
        <p:nvSpPr>
          <p:cNvPr id="9" name="Shape 9"/>
          <p:cNvSpPr/>
          <p:nvPr/>
        </p:nvSpPr>
        <p:spPr>
          <a:xfrm>
            <a:off x="2123389" y="4101084"/>
            <a:ext cx="256032" cy="164592"/>
          </a:xfrm>
          <a:prstGeom prst="rightArrow">
            <a:avLst/>
          </a:prstGeom>
          <a:solidFill>
            <a:srgbClr val="14532D"/>
          </a:solidFill>
          <a:ln/>
        </p:spPr>
        <p:txBody>
          <a:bodyPr/>
          <a:lstStyle/>
          <a:p>
            <a:endParaRPr lang="fr-FR"/>
          </a:p>
        </p:txBody>
      </p:sp>
      <p:sp>
        <p:nvSpPr>
          <p:cNvPr id="14" name="Shape 10"/>
          <p:cNvSpPr/>
          <p:nvPr/>
        </p:nvSpPr>
        <p:spPr>
          <a:xfrm>
            <a:off x="2379421" y="3657600"/>
            <a:ext cx="1666189" cy="1051560"/>
          </a:xfrm>
          <a:prstGeom prst="roundRect">
            <a:avLst>
              <a:gd name="adj" fmla="val 6957"/>
            </a:avLst>
          </a:prstGeom>
          <a:solidFill>
            <a:srgbClr val="E3F5EA"/>
          </a:solidFill>
          <a:ln w="9525">
            <a:solidFill>
              <a:srgbClr val="14532D"/>
            </a:solidFill>
            <a:prstDash val="solid"/>
          </a:ln>
        </p:spPr>
        <p:txBody>
          <a:bodyPr/>
          <a:lstStyle/>
          <a:p>
            <a:endParaRPr lang="fr-FR"/>
          </a:p>
        </p:txBody>
      </p:sp>
      <p:sp>
        <p:nvSpPr>
          <p:cNvPr id="15" name="Text 11"/>
          <p:cNvSpPr/>
          <p:nvPr/>
        </p:nvSpPr>
        <p:spPr>
          <a:xfrm>
            <a:off x="2425141" y="3657600"/>
            <a:ext cx="1574749" cy="1051560"/>
          </a:xfrm>
          <a:prstGeom prst="rect">
            <a:avLst/>
          </a:prstGeom>
          <a:noFill/>
          <a:ln/>
        </p:spPr>
        <p:txBody>
          <a:bodyPr wrap="square" rtlCol="0" anchor="ctr"/>
          <a:lstStyle/>
          <a:p>
            <a:pPr marL="0" indent="0" algn="ctr">
              <a:buNone/>
            </a:pPr>
            <a:r>
              <a:rPr lang="en-US" sz="1150" b="1" dirty="0">
                <a:solidFill>
                  <a:srgbClr val="14532D"/>
                </a:solidFill>
                <a:latin typeface="Calibri" pitchFamily="34" charset="0"/>
                <a:ea typeface="Calibri" pitchFamily="34" charset="-122"/>
                <a:cs typeface="Calibri" pitchFamily="34" charset="-120"/>
              </a:rPr>
              <a:t>CSV brut</a:t>
            </a:r>
            <a:endParaRPr lang="en-US" sz="1150" dirty="0"/>
          </a:p>
        </p:txBody>
      </p:sp>
      <p:sp>
        <p:nvSpPr>
          <p:cNvPr id="16" name="Shape 12"/>
          <p:cNvSpPr/>
          <p:nvPr/>
        </p:nvSpPr>
        <p:spPr>
          <a:xfrm>
            <a:off x="4045610" y="4101084"/>
            <a:ext cx="256032" cy="164592"/>
          </a:xfrm>
          <a:prstGeom prst="rightArrow">
            <a:avLst/>
          </a:prstGeom>
          <a:solidFill>
            <a:srgbClr val="14532D"/>
          </a:solidFill>
          <a:ln/>
        </p:spPr>
        <p:txBody>
          <a:bodyPr/>
          <a:lstStyle/>
          <a:p>
            <a:endParaRPr lang="fr-FR"/>
          </a:p>
        </p:txBody>
      </p:sp>
      <p:sp>
        <p:nvSpPr>
          <p:cNvPr id="17" name="Shape 13"/>
          <p:cNvSpPr/>
          <p:nvPr/>
        </p:nvSpPr>
        <p:spPr>
          <a:xfrm>
            <a:off x="4301642" y="3657600"/>
            <a:ext cx="1666189" cy="1051560"/>
          </a:xfrm>
          <a:prstGeom prst="roundRect">
            <a:avLst>
              <a:gd name="adj" fmla="val 6957"/>
            </a:avLst>
          </a:prstGeom>
          <a:solidFill>
            <a:srgbClr val="E3F5EA"/>
          </a:solidFill>
          <a:ln w="9525">
            <a:solidFill>
              <a:srgbClr val="14532D"/>
            </a:solidFill>
            <a:prstDash val="solid"/>
          </a:ln>
        </p:spPr>
        <p:txBody>
          <a:bodyPr/>
          <a:lstStyle/>
          <a:p>
            <a:endParaRPr lang="fr-FR"/>
          </a:p>
        </p:txBody>
      </p:sp>
      <p:sp>
        <p:nvSpPr>
          <p:cNvPr id="18" name="Text 14"/>
          <p:cNvSpPr/>
          <p:nvPr/>
        </p:nvSpPr>
        <p:spPr>
          <a:xfrm>
            <a:off x="4347362" y="3657600"/>
            <a:ext cx="1574749" cy="1051560"/>
          </a:xfrm>
          <a:prstGeom prst="rect">
            <a:avLst/>
          </a:prstGeom>
          <a:noFill/>
          <a:ln/>
        </p:spPr>
        <p:txBody>
          <a:bodyPr wrap="square" rtlCol="0" anchor="ctr"/>
          <a:lstStyle/>
          <a:p>
            <a:pPr marL="0" indent="0" algn="ctr">
              <a:buNone/>
            </a:pPr>
            <a:r>
              <a:rPr lang="en-US" sz="1150" b="1" dirty="0">
                <a:solidFill>
                  <a:srgbClr val="14532D"/>
                </a:solidFill>
                <a:latin typeface="Calibri" pitchFamily="34" charset="0"/>
                <a:ea typeface="Calibri" pitchFamily="34" charset="-122"/>
                <a:cs typeface="Calibri" pitchFamily="34" charset="-120"/>
              </a:rPr>
              <a:t>Volume NiFi</a:t>
            </a:r>
            <a:endParaRPr lang="en-US" sz="1150" dirty="0"/>
          </a:p>
          <a:p>
            <a:pPr marL="0" indent="0" algn="ctr">
              <a:buNone/>
            </a:pPr>
            <a:r>
              <a:rPr lang="en-US" sz="1150" b="1" dirty="0">
                <a:solidFill>
                  <a:srgbClr val="14532D"/>
                </a:solidFill>
                <a:latin typeface="Calibri" pitchFamily="34" charset="0"/>
                <a:ea typeface="Calibri" pitchFamily="34" charset="-122"/>
                <a:cs typeface="Calibri" pitchFamily="34" charset="-120"/>
              </a:rPr>
              <a:t>input</a:t>
            </a:r>
            <a:endParaRPr lang="en-US" sz="1150" dirty="0"/>
          </a:p>
        </p:txBody>
      </p:sp>
      <p:sp>
        <p:nvSpPr>
          <p:cNvPr id="19" name="Shape 15"/>
          <p:cNvSpPr/>
          <p:nvPr/>
        </p:nvSpPr>
        <p:spPr>
          <a:xfrm>
            <a:off x="5967832" y="4101084"/>
            <a:ext cx="256032" cy="164592"/>
          </a:xfrm>
          <a:prstGeom prst="rightArrow">
            <a:avLst/>
          </a:prstGeom>
          <a:solidFill>
            <a:srgbClr val="14532D"/>
          </a:solidFill>
          <a:ln/>
        </p:spPr>
        <p:txBody>
          <a:bodyPr/>
          <a:lstStyle/>
          <a:p>
            <a:endParaRPr lang="fr-FR"/>
          </a:p>
        </p:txBody>
      </p:sp>
      <p:sp>
        <p:nvSpPr>
          <p:cNvPr id="20" name="Shape 16"/>
          <p:cNvSpPr/>
          <p:nvPr/>
        </p:nvSpPr>
        <p:spPr>
          <a:xfrm>
            <a:off x="6223864" y="3657600"/>
            <a:ext cx="1666189" cy="1051560"/>
          </a:xfrm>
          <a:prstGeom prst="roundRect">
            <a:avLst>
              <a:gd name="adj" fmla="val 6957"/>
            </a:avLst>
          </a:prstGeom>
          <a:solidFill>
            <a:srgbClr val="E3F5EA"/>
          </a:solidFill>
          <a:ln w="9525">
            <a:solidFill>
              <a:srgbClr val="14532D"/>
            </a:solidFill>
            <a:prstDash val="solid"/>
          </a:ln>
        </p:spPr>
        <p:txBody>
          <a:bodyPr/>
          <a:lstStyle/>
          <a:p>
            <a:endParaRPr lang="fr-FR"/>
          </a:p>
        </p:txBody>
      </p:sp>
      <p:sp>
        <p:nvSpPr>
          <p:cNvPr id="21" name="Text 17"/>
          <p:cNvSpPr/>
          <p:nvPr/>
        </p:nvSpPr>
        <p:spPr>
          <a:xfrm>
            <a:off x="6269584" y="3657600"/>
            <a:ext cx="1574749" cy="1051560"/>
          </a:xfrm>
          <a:prstGeom prst="rect">
            <a:avLst/>
          </a:prstGeom>
          <a:noFill/>
          <a:ln/>
        </p:spPr>
        <p:txBody>
          <a:bodyPr wrap="square" rtlCol="0" anchor="ctr"/>
          <a:lstStyle/>
          <a:p>
            <a:pPr marL="0" indent="0" algn="ctr">
              <a:buNone/>
            </a:pPr>
            <a:r>
              <a:rPr lang="en-US" sz="1150" b="1" dirty="0">
                <a:solidFill>
                  <a:srgbClr val="14532D"/>
                </a:solidFill>
                <a:latin typeface="Calibri" pitchFamily="34" charset="0"/>
                <a:ea typeface="Calibri" pitchFamily="34" charset="-122"/>
                <a:cs typeface="Calibri" pitchFamily="34" charset="-120"/>
              </a:rPr>
              <a:t>GetFile</a:t>
            </a:r>
            <a:endParaRPr lang="en-US" sz="1150" dirty="0"/>
          </a:p>
        </p:txBody>
      </p:sp>
      <p:sp>
        <p:nvSpPr>
          <p:cNvPr id="22" name="Shape 18"/>
          <p:cNvSpPr/>
          <p:nvPr/>
        </p:nvSpPr>
        <p:spPr>
          <a:xfrm>
            <a:off x="7890053" y="4101084"/>
            <a:ext cx="256032" cy="164592"/>
          </a:xfrm>
          <a:prstGeom prst="rightArrow">
            <a:avLst/>
          </a:prstGeom>
          <a:solidFill>
            <a:srgbClr val="14532D"/>
          </a:solidFill>
          <a:ln/>
        </p:spPr>
        <p:txBody>
          <a:bodyPr/>
          <a:lstStyle/>
          <a:p>
            <a:endParaRPr lang="fr-FR"/>
          </a:p>
        </p:txBody>
      </p:sp>
      <p:sp>
        <p:nvSpPr>
          <p:cNvPr id="23" name="Shape 19"/>
          <p:cNvSpPr/>
          <p:nvPr/>
        </p:nvSpPr>
        <p:spPr>
          <a:xfrm>
            <a:off x="8146085" y="3657600"/>
            <a:ext cx="1666189" cy="1051560"/>
          </a:xfrm>
          <a:prstGeom prst="roundRect">
            <a:avLst>
              <a:gd name="adj" fmla="val 6957"/>
            </a:avLst>
          </a:prstGeom>
          <a:solidFill>
            <a:srgbClr val="E3F5EA"/>
          </a:solidFill>
          <a:ln w="9525">
            <a:solidFill>
              <a:srgbClr val="14532D"/>
            </a:solidFill>
            <a:prstDash val="solid"/>
          </a:ln>
        </p:spPr>
        <p:txBody>
          <a:bodyPr/>
          <a:lstStyle/>
          <a:p>
            <a:endParaRPr lang="fr-FR"/>
          </a:p>
        </p:txBody>
      </p:sp>
      <p:sp>
        <p:nvSpPr>
          <p:cNvPr id="24" name="Text 20"/>
          <p:cNvSpPr/>
          <p:nvPr/>
        </p:nvSpPr>
        <p:spPr>
          <a:xfrm>
            <a:off x="8191805" y="3657600"/>
            <a:ext cx="1574749" cy="1051560"/>
          </a:xfrm>
          <a:prstGeom prst="rect">
            <a:avLst/>
          </a:prstGeom>
          <a:noFill/>
          <a:ln/>
        </p:spPr>
        <p:txBody>
          <a:bodyPr wrap="square" rtlCol="0" anchor="ctr"/>
          <a:lstStyle/>
          <a:p>
            <a:pPr marL="0" indent="0" algn="ctr">
              <a:buNone/>
            </a:pPr>
            <a:r>
              <a:rPr lang="en-US" sz="1150" b="1" dirty="0">
                <a:solidFill>
                  <a:srgbClr val="14532D"/>
                </a:solidFill>
                <a:latin typeface="Calibri" pitchFamily="34" charset="0"/>
                <a:ea typeface="Calibri" pitchFamily="34" charset="-122"/>
                <a:cs typeface="Calibri" pitchFamily="34" charset="-120"/>
              </a:rPr>
              <a:t>PutS3Object</a:t>
            </a:r>
            <a:endParaRPr lang="en-US" sz="1150" dirty="0"/>
          </a:p>
        </p:txBody>
      </p:sp>
      <p:sp>
        <p:nvSpPr>
          <p:cNvPr id="25" name="Shape 21"/>
          <p:cNvSpPr/>
          <p:nvPr/>
        </p:nvSpPr>
        <p:spPr>
          <a:xfrm>
            <a:off x="9812274" y="4101084"/>
            <a:ext cx="256032" cy="164592"/>
          </a:xfrm>
          <a:prstGeom prst="rightArrow">
            <a:avLst/>
          </a:prstGeom>
          <a:solidFill>
            <a:srgbClr val="14532D"/>
          </a:solidFill>
          <a:ln/>
        </p:spPr>
        <p:txBody>
          <a:bodyPr/>
          <a:lstStyle/>
          <a:p>
            <a:endParaRPr lang="fr-FR"/>
          </a:p>
        </p:txBody>
      </p:sp>
      <p:sp>
        <p:nvSpPr>
          <p:cNvPr id="26" name="Shape 22"/>
          <p:cNvSpPr/>
          <p:nvPr/>
        </p:nvSpPr>
        <p:spPr>
          <a:xfrm>
            <a:off x="10068306" y="3657600"/>
            <a:ext cx="1666189" cy="1051560"/>
          </a:xfrm>
          <a:prstGeom prst="roundRect">
            <a:avLst>
              <a:gd name="adj" fmla="val 6957"/>
            </a:avLst>
          </a:prstGeom>
          <a:solidFill>
            <a:srgbClr val="22C55E"/>
          </a:solidFill>
          <a:ln w="9525">
            <a:solidFill>
              <a:srgbClr val="14532D"/>
            </a:solidFill>
            <a:prstDash val="solid"/>
          </a:ln>
        </p:spPr>
        <p:txBody>
          <a:bodyPr/>
          <a:lstStyle/>
          <a:p>
            <a:endParaRPr lang="fr-FR"/>
          </a:p>
        </p:txBody>
      </p:sp>
      <p:sp>
        <p:nvSpPr>
          <p:cNvPr id="27" name="Text 23"/>
          <p:cNvSpPr/>
          <p:nvPr/>
        </p:nvSpPr>
        <p:spPr>
          <a:xfrm>
            <a:off x="10114026" y="3657600"/>
            <a:ext cx="1574749" cy="105156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MinIO</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weather-lake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600" b="1" dirty="0">
                <a:solidFill>
                  <a:srgbClr val="0F3D28"/>
                </a:solidFill>
                <a:latin typeface="Cambria" pitchFamily="34" charset="0"/>
                <a:ea typeface="Cambria" pitchFamily="34" charset="-122"/>
                <a:cs typeface="Cambria" pitchFamily="34" charset="-120"/>
              </a:rPr>
              <a:t>03</a:t>
            </a:r>
            <a:endParaRPr lang="en-US" sz="26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Orchestration NiFi</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Configuration des processeurs NiFi et démonstration du flux d'ingestion en fonctionnement.</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Présenté par : </a:t>
            </a:r>
            <a:r>
              <a:rPr lang="en-US" sz="1500" i="1" dirty="0">
                <a:solidFill>
                  <a:srgbClr val="CFEFDD"/>
                </a:solidFill>
                <a:latin typeface="Calibri" pitchFamily="34" charset="0"/>
                <a:ea typeface="Calibri" pitchFamily="34" charset="-122"/>
                <a:cs typeface="Calibri" pitchFamily="34" charset="-120"/>
              </a:rPr>
              <a:t>Thierno BALDE</a:t>
            </a:r>
            <a:endParaRPr lang="en-US" sz="1500" dirty="0"/>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03</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nifi_cogs.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err="1">
                <a:solidFill>
                  <a:srgbClr val="14532D"/>
                </a:solidFill>
                <a:latin typeface="Calibri" pitchFamily="34" charset="0"/>
                <a:ea typeface="Calibri" pitchFamily="34" charset="-122"/>
                <a:cs typeface="Calibri" pitchFamily="34" charset="-120"/>
              </a:rPr>
              <a:t>NiFi</a:t>
            </a:r>
            <a:r>
              <a:rPr lang="en-US" sz="2800" b="1" dirty="0">
                <a:solidFill>
                  <a:srgbClr val="14532D"/>
                </a:solidFill>
                <a:latin typeface="Calibri" pitchFamily="34" charset="0"/>
                <a:ea typeface="Calibri" pitchFamily="34" charset="-122"/>
                <a:cs typeface="Calibri" pitchFamily="34" charset="-120"/>
              </a:rPr>
              <a:t> Processors</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640080"/>
          </a:xfrm>
          <a:prstGeom prst="rect">
            <a:avLst/>
          </a:prstGeom>
          <a:noFill/>
          <a:ln/>
        </p:spPr>
        <p:txBody>
          <a:bodyPr wrap="square" rtlCol="0" anchor="t"/>
          <a:lstStyle/>
          <a:p>
            <a:pPr marL="0" indent="0">
              <a:lnSpc>
                <a:spcPct val="115000"/>
              </a:lnSpc>
              <a:buNone/>
            </a:pPr>
            <a:r>
              <a:rPr lang="en-US" sz="1450" dirty="0">
                <a:solidFill>
                  <a:srgbClr val="1F2937"/>
                </a:solidFill>
                <a:latin typeface="Calibri" pitchFamily="34" charset="0"/>
                <a:ea typeface="Calibri" pitchFamily="34" charset="-122"/>
                <a:cs typeface="Calibri" pitchFamily="34" charset="-120"/>
              </a:rPr>
              <a:t>Le flux NiFi récupère les fichiers bruts puis les dépose automatiquement dans MinIO via une connexion compatible S3.</a:t>
            </a:r>
            <a:endParaRPr lang="en-US" sz="14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8229600" cy="1920240"/>
        </p:xfrm>
        <a:graphic>
          <a:graphicData uri="http://schemas.openxmlformats.org/drawingml/2006/table">
            <a:tbl>
              <a:tblPr/>
              <a:tblGrid>
                <a:gridCol w="219456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640080">
                <a:tc>
                  <a:txBody>
                    <a:bodyPr/>
                    <a:lstStyle/>
                    <a:p>
                      <a:pPr marL="0" indent="0" algn="l">
                        <a:buNone/>
                      </a:pPr>
                      <a:r>
                        <a:rPr lang="en-US" sz="1250" b="1" dirty="0">
                          <a:solidFill>
                            <a:srgbClr val="FFFFFF"/>
                          </a:solidFill>
                        </a:rPr>
                        <a:t>Processeur</a:t>
                      </a:r>
                      <a:endParaRPr lang="en-US" sz="12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250" b="1" dirty="0">
                          <a:solidFill>
                            <a:srgbClr val="FFFFFF"/>
                          </a:solidFill>
                        </a:rPr>
                        <a:t>Configuration clé</a:t>
                      </a:r>
                      <a:endParaRPr lang="en-US" sz="12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640080">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GetFile</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937"/>
                          </a:solidFill>
                          <a:latin typeface="Consolas" pitchFamily="34" charset="0"/>
                          <a:ea typeface="Consolas" pitchFamily="34" charset="-122"/>
                          <a:cs typeface="Consolas" pitchFamily="34" charset="-120"/>
                        </a:rPr>
                        <a:t>Input Directory : /opt/nifi/input</a:t>
                      </a:r>
                      <a:endParaRPr lang="en-US" sz="12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PutS3Object</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250" dirty="0">
                          <a:solidFill>
                            <a:srgbClr val="1F2937"/>
                          </a:solidFill>
                          <a:latin typeface="Consolas" pitchFamily="34" charset="0"/>
                          <a:ea typeface="Consolas" pitchFamily="34" charset="-122"/>
                          <a:cs typeface="Consolas" pitchFamily="34" charset="-120"/>
                        </a:rPr>
                        <a:t>Bucket : weather-lake   ·   Object Key : raw/${filename}   ·   Endpoint : http://minio:9000</a:t>
                      </a:r>
                      <a:endParaRPr lang="en-US" sz="12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bl>
          </a:graphicData>
        </a:graphic>
      </p:graphicFrame>
      <p:sp>
        <p:nvSpPr>
          <p:cNvPr id="10" name="Text 6"/>
          <p:cNvSpPr/>
          <p:nvPr/>
        </p:nvSpPr>
        <p:spPr>
          <a:xfrm>
            <a:off x="457199" y="4317648"/>
            <a:ext cx="11277295" cy="548640"/>
          </a:xfrm>
          <a:prstGeom prst="rect">
            <a:avLst/>
          </a:prstGeom>
          <a:noFill/>
          <a:ln/>
        </p:spPr>
        <p:txBody>
          <a:bodyPr wrap="square" rtlCol="0" anchor="t"/>
          <a:lstStyle/>
          <a:p>
            <a:pPr marL="0" indent="0">
              <a:lnSpc>
                <a:spcPct val="115000"/>
              </a:lnSpc>
              <a:buNone/>
            </a:pPr>
            <a:r>
              <a:rPr lang="en-US" sz="1350" dirty="0">
                <a:solidFill>
                  <a:srgbClr val="1F2937"/>
                </a:solidFill>
                <a:latin typeface="Calibri" pitchFamily="34" charset="0"/>
                <a:ea typeface="Calibri" pitchFamily="34" charset="-122"/>
                <a:cs typeface="Calibri" pitchFamily="34" charset="-120"/>
              </a:rPr>
              <a:t>Le Controller Service AWSCredentialsProviderControllerService est configuré avec les identifiants MinIO.</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03</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nifi_desktop.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err="1">
                <a:solidFill>
                  <a:srgbClr val="14532D"/>
                </a:solidFill>
                <a:latin typeface="Calibri" pitchFamily="34" charset="0"/>
                <a:ea typeface="Calibri" pitchFamily="34" charset="-122"/>
                <a:cs typeface="Calibri" pitchFamily="34" charset="-120"/>
              </a:rPr>
              <a:t>NiFi</a:t>
            </a:r>
            <a:r>
              <a:rPr lang="en-US" sz="2800" b="1" dirty="0">
                <a:solidFill>
                  <a:srgbClr val="14532D"/>
                </a:solidFill>
                <a:latin typeface="Calibri" pitchFamily="34" charset="0"/>
                <a:ea typeface="Calibri" pitchFamily="34" charset="-122"/>
                <a:cs typeface="Calibri" pitchFamily="34" charset="-120"/>
              </a:rPr>
              <a:t> Vue du process group</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pic>
        <p:nvPicPr>
          <p:cNvPr id="8" name="Image 1" descr="D:\SIGUI\ProjetFinal\pptx_assets\fig_nifi_process_group.png"/>
          <p:cNvPicPr>
            <a:picLocks noChangeAspect="1"/>
          </p:cNvPicPr>
          <p:nvPr/>
        </p:nvPicPr>
        <p:blipFill>
          <a:blip r:embed="rId4"/>
          <a:stretch>
            <a:fillRect/>
          </a:stretch>
        </p:blipFill>
        <p:spPr>
          <a:xfrm>
            <a:off x="838048" y="1691640"/>
            <a:ext cx="10515600" cy="2736746"/>
          </a:xfrm>
          <a:prstGeom prst="rect">
            <a:avLst/>
          </a:prstGeom>
        </p:spPr>
      </p:pic>
      <p:sp>
        <p:nvSpPr>
          <p:cNvPr id="9" name="Text 5"/>
          <p:cNvSpPr/>
          <p:nvPr/>
        </p:nvSpPr>
        <p:spPr>
          <a:xfrm>
            <a:off x="457200" y="4538114"/>
            <a:ext cx="11277295" cy="32004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Guide pas à pas complet : rapport/nifi-ingestion.md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600" b="1" dirty="0">
                <a:solidFill>
                  <a:srgbClr val="0F3D28"/>
                </a:solidFill>
                <a:latin typeface="Cambria" pitchFamily="34" charset="0"/>
                <a:ea typeface="Cambria" pitchFamily="34" charset="-122"/>
                <a:cs typeface="Cambria" pitchFamily="34" charset="-120"/>
              </a:rPr>
              <a:t>04</a:t>
            </a:r>
            <a:endParaRPr lang="en-US" sz="26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Transformation des données</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Nettoyage, normalisation et enrichissement du jeu de données brut.</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Présenté par : </a:t>
            </a:r>
            <a:r>
              <a:rPr lang="en-US" sz="1500" i="1" dirty="0">
                <a:solidFill>
                  <a:srgbClr val="CFEFDD"/>
                </a:solidFill>
                <a:latin typeface="Calibri" pitchFamily="34" charset="0"/>
                <a:ea typeface="Calibri" pitchFamily="34" charset="-122"/>
                <a:cs typeface="Calibri" pitchFamily="34" charset="-120"/>
              </a:rPr>
              <a:t>Mouhamed CISSE</a:t>
            </a:r>
            <a:endParaRPr lang="en-US" sz="1500" dirty="0"/>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04</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transform.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Transform nettoyage et normalisation</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371600"/>
            <a:ext cx="11277295" cy="320040"/>
          </a:xfrm>
          <a:prstGeom prst="rect">
            <a:avLst/>
          </a:prstGeom>
          <a:noFill/>
          <a:ln/>
        </p:spPr>
        <p:txBody>
          <a:bodyPr wrap="square" rtlCol="0" anchor="ctr"/>
          <a:lstStyle/>
          <a:p>
            <a:pPr marL="0" indent="0">
              <a:buNone/>
            </a:pPr>
            <a:r>
              <a:rPr lang="en-US" sz="1350" b="1" dirty="0">
                <a:solidFill>
                  <a:srgbClr val="1F2937"/>
                </a:solidFill>
                <a:latin typeface="Calibri" pitchFamily="34" charset="0"/>
                <a:ea typeface="Calibri" pitchFamily="34" charset="-122"/>
                <a:cs typeface="Calibri" pitchFamily="34" charset="-120"/>
              </a:rPr>
              <a:t>Script : etl/transform.py (pandas)</a:t>
            </a:r>
            <a:endParaRPr lang="en-US" sz="1350" dirty="0"/>
          </a:p>
        </p:txBody>
      </p:sp>
      <p:sp>
        <p:nvSpPr>
          <p:cNvPr id="9" name="Shape 6"/>
          <p:cNvSpPr/>
          <p:nvPr/>
        </p:nvSpPr>
        <p:spPr>
          <a:xfrm>
            <a:off x="457200" y="1828800"/>
            <a:ext cx="2613584" cy="4206240"/>
          </a:xfrm>
          <a:prstGeom prst="roundRect">
            <a:avLst>
              <a:gd name="adj" fmla="val 3499"/>
            </a:avLst>
          </a:prstGeom>
          <a:solidFill>
            <a:srgbClr val="F3FBF6"/>
          </a:solidFill>
          <a:ln/>
        </p:spPr>
        <p:txBody>
          <a:bodyPr/>
          <a:lstStyle/>
          <a:p>
            <a:endParaRPr lang="fr-FR"/>
          </a:p>
        </p:txBody>
      </p:sp>
      <p:sp>
        <p:nvSpPr>
          <p:cNvPr id="10" name="Shape 7"/>
          <p:cNvSpPr/>
          <p:nvPr/>
        </p:nvSpPr>
        <p:spPr>
          <a:xfrm>
            <a:off x="1453096" y="2084832"/>
            <a:ext cx="621792" cy="621792"/>
          </a:xfrm>
          <a:prstGeom prst="ellipse">
            <a:avLst/>
          </a:prstGeom>
          <a:solidFill>
            <a:srgbClr val="22C55E"/>
          </a:solidFill>
          <a:ln/>
        </p:spPr>
        <p:txBody>
          <a:bodyPr/>
          <a:lstStyle/>
          <a:p>
            <a:endParaRPr lang="fr-FR"/>
          </a:p>
        </p:txBody>
      </p:sp>
      <p:pic>
        <p:nvPicPr>
          <p:cNvPr id="11" name="Image 1" descr="D:\SIGUI\ProjetFinal\pptx_icons\list.png"/>
          <p:cNvPicPr>
            <a:picLocks noChangeAspect="1"/>
          </p:cNvPicPr>
          <p:nvPr/>
        </p:nvPicPr>
        <p:blipFill>
          <a:blip r:embed="rId4"/>
          <a:stretch>
            <a:fillRect/>
          </a:stretch>
        </p:blipFill>
        <p:spPr>
          <a:xfrm>
            <a:off x="1617688" y="2249424"/>
            <a:ext cx="292608" cy="292608"/>
          </a:xfrm>
          <a:prstGeom prst="rect">
            <a:avLst/>
          </a:prstGeom>
        </p:spPr>
      </p:pic>
      <p:sp>
        <p:nvSpPr>
          <p:cNvPr id="12" name="Text 8"/>
          <p:cNvSpPr/>
          <p:nvPr/>
        </p:nvSpPr>
        <p:spPr>
          <a:xfrm>
            <a:off x="621792" y="2816352"/>
            <a:ext cx="2284400" cy="502920"/>
          </a:xfrm>
          <a:prstGeom prst="rect">
            <a:avLst/>
          </a:prstGeom>
          <a:noFill/>
          <a:ln/>
        </p:spPr>
        <p:txBody>
          <a:bodyPr wrap="square" rtlCol="0" anchor="t"/>
          <a:lstStyle/>
          <a:p>
            <a:pPr marL="0" indent="0" algn="ctr">
              <a:buNone/>
            </a:pPr>
            <a:r>
              <a:rPr lang="en-US" sz="1400" b="1" dirty="0">
                <a:solidFill>
                  <a:srgbClr val="14532D"/>
                </a:solidFill>
                <a:latin typeface="Calibri" pitchFamily="34" charset="0"/>
                <a:ea typeface="Calibri" pitchFamily="34" charset="-122"/>
                <a:cs typeface="Calibri" pitchFamily="34" charset="-120"/>
              </a:rPr>
              <a:t>Normalisation</a:t>
            </a:r>
            <a:endParaRPr lang="en-US" sz="1400" dirty="0"/>
          </a:p>
        </p:txBody>
      </p:sp>
      <p:sp>
        <p:nvSpPr>
          <p:cNvPr id="13" name="Text 9"/>
          <p:cNvSpPr/>
          <p:nvPr/>
        </p:nvSpPr>
        <p:spPr>
          <a:xfrm>
            <a:off x="658368" y="3364992"/>
            <a:ext cx="2211248" cy="2560320"/>
          </a:xfrm>
          <a:prstGeom prst="rect">
            <a:avLst/>
          </a:prstGeom>
          <a:noFill/>
          <a:ln/>
        </p:spPr>
        <p:txBody>
          <a:bodyPr wrap="square" rtlCol="0" anchor="t"/>
          <a:lstStyle/>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Colonnes en snake_case</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Parsing des dates en UTC (date_time)</a:t>
            </a:r>
            <a:endParaRPr lang="en-US" sz="1150" dirty="0"/>
          </a:p>
        </p:txBody>
      </p:sp>
      <p:sp>
        <p:nvSpPr>
          <p:cNvPr id="14" name="Shape 10"/>
          <p:cNvSpPr/>
          <p:nvPr/>
        </p:nvSpPr>
        <p:spPr>
          <a:xfrm>
            <a:off x="3345104" y="1828800"/>
            <a:ext cx="2613584" cy="4206240"/>
          </a:xfrm>
          <a:prstGeom prst="roundRect">
            <a:avLst>
              <a:gd name="adj" fmla="val 3499"/>
            </a:avLst>
          </a:prstGeom>
          <a:solidFill>
            <a:srgbClr val="F3FBF6"/>
          </a:solidFill>
          <a:ln/>
        </p:spPr>
        <p:txBody>
          <a:bodyPr/>
          <a:lstStyle/>
          <a:p>
            <a:endParaRPr lang="fr-FR"/>
          </a:p>
        </p:txBody>
      </p:sp>
      <p:sp>
        <p:nvSpPr>
          <p:cNvPr id="15" name="Shape 11"/>
          <p:cNvSpPr/>
          <p:nvPr/>
        </p:nvSpPr>
        <p:spPr>
          <a:xfrm>
            <a:off x="4341000" y="2084832"/>
            <a:ext cx="621792" cy="621792"/>
          </a:xfrm>
          <a:prstGeom prst="ellipse">
            <a:avLst/>
          </a:prstGeom>
          <a:solidFill>
            <a:srgbClr val="22C55E"/>
          </a:solidFill>
          <a:ln/>
        </p:spPr>
        <p:txBody>
          <a:bodyPr/>
          <a:lstStyle/>
          <a:p>
            <a:endParaRPr lang="fr-FR"/>
          </a:p>
        </p:txBody>
      </p:sp>
      <p:pic>
        <p:nvPicPr>
          <p:cNvPr id="16" name="Image 2" descr="D:\SIGUI\ProjetFinal\pptx_icons\outliers.png"/>
          <p:cNvPicPr>
            <a:picLocks noChangeAspect="1"/>
          </p:cNvPicPr>
          <p:nvPr/>
        </p:nvPicPr>
        <p:blipFill>
          <a:blip r:embed="rId5"/>
          <a:stretch>
            <a:fillRect/>
          </a:stretch>
        </p:blipFill>
        <p:spPr>
          <a:xfrm>
            <a:off x="4505592" y="2249424"/>
            <a:ext cx="292608" cy="292608"/>
          </a:xfrm>
          <a:prstGeom prst="rect">
            <a:avLst/>
          </a:prstGeom>
        </p:spPr>
      </p:pic>
      <p:sp>
        <p:nvSpPr>
          <p:cNvPr id="17" name="Text 12"/>
          <p:cNvSpPr/>
          <p:nvPr/>
        </p:nvSpPr>
        <p:spPr>
          <a:xfrm>
            <a:off x="3509696" y="2816352"/>
            <a:ext cx="2284400" cy="502920"/>
          </a:xfrm>
          <a:prstGeom prst="rect">
            <a:avLst/>
          </a:prstGeom>
          <a:noFill/>
          <a:ln/>
        </p:spPr>
        <p:txBody>
          <a:bodyPr wrap="square" rtlCol="0" anchor="t"/>
          <a:lstStyle/>
          <a:p>
            <a:pPr marL="0" indent="0" algn="ctr">
              <a:buNone/>
            </a:pPr>
            <a:r>
              <a:rPr lang="en-US" sz="1400" b="1" dirty="0">
                <a:solidFill>
                  <a:srgbClr val="14532D"/>
                </a:solidFill>
                <a:latin typeface="Calibri" pitchFamily="34" charset="0"/>
                <a:ea typeface="Calibri" pitchFamily="34" charset="-122"/>
                <a:cs typeface="Calibri" pitchFamily="34" charset="-120"/>
              </a:rPr>
              <a:t>Nettoyage</a:t>
            </a:r>
            <a:endParaRPr lang="en-US" sz="1400" dirty="0"/>
          </a:p>
        </p:txBody>
      </p:sp>
      <p:sp>
        <p:nvSpPr>
          <p:cNvPr id="18" name="Text 13"/>
          <p:cNvSpPr/>
          <p:nvPr/>
        </p:nvSpPr>
        <p:spPr>
          <a:xfrm>
            <a:off x="3546272" y="3364992"/>
            <a:ext cx="2211248" cy="2560320"/>
          </a:xfrm>
          <a:prstGeom prst="rect">
            <a:avLst/>
          </a:prstGeom>
          <a:noFill/>
          <a:ln/>
        </p:spPr>
        <p:txBody>
          <a:bodyPr wrap="square" rtlCol="0" anchor="t"/>
          <a:lstStyle/>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Suppression doublons &amp; lignes incomplètes</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Nettoyage texte (summary, precip_type)</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Correction des valeurs incohérentes</a:t>
            </a:r>
            <a:endParaRPr lang="en-US" sz="1150" dirty="0"/>
          </a:p>
        </p:txBody>
      </p:sp>
      <p:sp>
        <p:nvSpPr>
          <p:cNvPr id="19" name="Shape 14"/>
          <p:cNvSpPr/>
          <p:nvPr/>
        </p:nvSpPr>
        <p:spPr>
          <a:xfrm>
            <a:off x="6233008" y="1828800"/>
            <a:ext cx="2613584" cy="4206240"/>
          </a:xfrm>
          <a:prstGeom prst="roundRect">
            <a:avLst>
              <a:gd name="adj" fmla="val 3499"/>
            </a:avLst>
          </a:prstGeom>
          <a:solidFill>
            <a:srgbClr val="F3FBF6"/>
          </a:solidFill>
          <a:ln/>
        </p:spPr>
        <p:txBody>
          <a:bodyPr/>
          <a:lstStyle/>
          <a:p>
            <a:endParaRPr lang="fr-FR"/>
          </a:p>
        </p:txBody>
      </p:sp>
      <p:sp>
        <p:nvSpPr>
          <p:cNvPr id="20" name="Shape 15"/>
          <p:cNvSpPr/>
          <p:nvPr/>
        </p:nvSpPr>
        <p:spPr>
          <a:xfrm>
            <a:off x="7228904" y="2084832"/>
            <a:ext cx="621792" cy="621792"/>
          </a:xfrm>
          <a:prstGeom prst="ellipse">
            <a:avLst/>
          </a:prstGeom>
          <a:solidFill>
            <a:srgbClr val="22C55E"/>
          </a:solidFill>
          <a:ln/>
        </p:spPr>
        <p:txBody>
          <a:bodyPr/>
          <a:lstStyle/>
          <a:p>
            <a:endParaRPr lang="fr-FR"/>
          </a:p>
        </p:txBody>
      </p:sp>
      <p:pic>
        <p:nvPicPr>
          <p:cNvPr id="21" name="Image 3" descr="D:\SIGUI\ProjetFinal\pptx_icons\layers.png"/>
          <p:cNvPicPr>
            <a:picLocks noChangeAspect="1"/>
          </p:cNvPicPr>
          <p:nvPr/>
        </p:nvPicPr>
        <p:blipFill>
          <a:blip r:embed="rId6"/>
          <a:stretch>
            <a:fillRect/>
          </a:stretch>
        </p:blipFill>
        <p:spPr>
          <a:xfrm>
            <a:off x="7393496" y="2249424"/>
            <a:ext cx="292608" cy="292608"/>
          </a:xfrm>
          <a:prstGeom prst="rect">
            <a:avLst/>
          </a:prstGeom>
        </p:spPr>
      </p:pic>
      <p:sp>
        <p:nvSpPr>
          <p:cNvPr id="22" name="Text 16"/>
          <p:cNvSpPr/>
          <p:nvPr/>
        </p:nvSpPr>
        <p:spPr>
          <a:xfrm>
            <a:off x="6397600" y="2816352"/>
            <a:ext cx="2284400" cy="502920"/>
          </a:xfrm>
          <a:prstGeom prst="rect">
            <a:avLst/>
          </a:prstGeom>
          <a:noFill/>
          <a:ln/>
        </p:spPr>
        <p:txBody>
          <a:bodyPr wrap="square" rtlCol="0" anchor="t"/>
          <a:lstStyle/>
          <a:p>
            <a:pPr marL="0" indent="0" algn="ctr">
              <a:buNone/>
            </a:pPr>
            <a:r>
              <a:rPr lang="en-US" sz="1400" b="1" dirty="0">
                <a:solidFill>
                  <a:srgbClr val="14532D"/>
                </a:solidFill>
                <a:latin typeface="Calibri" pitchFamily="34" charset="0"/>
                <a:ea typeface="Calibri" pitchFamily="34" charset="-122"/>
                <a:cs typeface="Calibri" pitchFamily="34" charset="-120"/>
              </a:rPr>
              <a:t>Manquants</a:t>
            </a:r>
            <a:endParaRPr lang="en-US" sz="1400" dirty="0"/>
          </a:p>
        </p:txBody>
      </p:sp>
      <p:sp>
        <p:nvSpPr>
          <p:cNvPr id="23" name="Text 17"/>
          <p:cNvSpPr/>
          <p:nvPr/>
        </p:nvSpPr>
        <p:spPr>
          <a:xfrm>
            <a:off x="6434176" y="3364992"/>
            <a:ext cx="2211248" cy="2560320"/>
          </a:xfrm>
          <a:prstGeom prst="rect">
            <a:avLst/>
          </a:prstGeom>
          <a:noFill/>
          <a:ln/>
        </p:spPr>
        <p:txBody>
          <a:bodyPr wrap="square" rtlCol="0" anchor="t"/>
          <a:lstStyle/>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Interpolation temporelle + médiane</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Suppression de loud_cover (constante)</a:t>
            </a:r>
            <a:endParaRPr lang="en-US" sz="1150" dirty="0"/>
          </a:p>
        </p:txBody>
      </p:sp>
      <p:sp>
        <p:nvSpPr>
          <p:cNvPr id="24" name="Shape 18"/>
          <p:cNvSpPr/>
          <p:nvPr/>
        </p:nvSpPr>
        <p:spPr>
          <a:xfrm>
            <a:off x="9120911" y="1828800"/>
            <a:ext cx="2613584" cy="4206240"/>
          </a:xfrm>
          <a:prstGeom prst="roundRect">
            <a:avLst>
              <a:gd name="adj" fmla="val 3499"/>
            </a:avLst>
          </a:prstGeom>
          <a:solidFill>
            <a:srgbClr val="F3FBF6"/>
          </a:solidFill>
          <a:ln/>
        </p:spPr>
        <p:txBody>
          <a:bodyPr/>
          <a:lstStyle/>
          <a:p>
            <a:endParaRPr lang="fr-FR"/>
          </a:p>
        </p:txBody>
      </p:sp>
      <p:sp>
        <p:nvSpPr>
          <p:cNvPr id="25" name="Shape 19"/>
          <p:cNvSpPr/>
          <p:nvPr/>
        </p:nvSpPr>
        <p:spPr>
          <a:xfrm>
            <a:off x="10116807" y="2084832"/>
            <a:ext cx="621792" cy="621792"/>
          </a:xfrm>
          <a:prstGeom prst="ellipse">
            <a:avLst/>
          </a:prstGeom>
          <a:solidFill>
            <a:srgbClr val="22C55E"/>
          </a:solidFill>
          <a:ln/>
        </p:spPr>
        <p:txBody>
          <a:bodyPr/>
          <a:lstStyle/>
          <a:p>
            <a:endParaRPr lang="fr-FR"/>
          </a:p>
        </p:txBody>
      </p:sp>
      <p:pic>
        <p:nvPicPr>
          <p:cNvPr id="26" name="Image 4" descr="D:\SIGUI\ProjetFinal\pptx_icons\chart_line.png"/>
          <p:cNvPicPr>
            <a:picLocks noChangeAspect="1"/>
          </p:cNvPicPr>
          <p:nvPr/>
        </p:nvPicPr>
        <p:blipFill>
          <a:blip r:embed="rId7"/>
          <a:stretch>
            <a:fillRect/>
          </a:stretch>
        </p:blipFill>
        <p:spPr>
          <a:xfrm>
            <a:off x="10281399" y="2249424"/>
            <a:ext cx="292608" cy="292608"/>
          </a:xfrm>
          <a:prstGeom prst="rect">
            <a:avLst/>
          </a:prstGeom>
        </p:spPr>
      </p:pic>
      <p:sp>
        <p:nvSpPr>
          <p:cNvPr id="27" name="Text 20"/>
          <p:cNvSpPr/>
          <p:nvPr/>
        </p:nvSpPr>
        <p:spPr>
          <a:xfrm>
            <a:off x="9285503" y="2816352"/>
            <a:ext cx="2284400" cy="502920"/>
          </a:xfrm>
          <a:prstGeom prst="rect">
            <a:avLst/>
          </a:prstGeom>
          <a:noFill/>
          <a:ln/>
        </p:spPr>
        <p:txBody>
          <a:bodyPr wrap="square" rtlCol="0" anchor="t"/>
          <a:lstStyle/>
          <a:p>
            <a:pPr marL="0" indent="0" algn="ctr">
              <a:buNone/>
            </a:pPr>
            <a:r>
              <a:rPr lang="en-US" sz="1400" b="1" dirty="0">
                <a:solidFill>
                  <a:srgbClr val="14532D"/>
                </a:solidFill>
                <a:latin typeface="Calibri" pitchFamily="34" charset="0"/>
                <a:ea typeface="Calibri" pitchFamily="34" charset="-122"/>
                <a:cs typeface="Calibri" pitchFamily="34" charset="-120"/>
              </a:rPr>
              <a:t>Enrichissement</a:t>
            </a:r>
            <a:endParaRPr lang="en-US" sz="1400" dirty="0"/>
          </a:p>
        </p:txBody>
      </p:sp>
      <p:sp>
        <p:nvSpPr>
          <p:cNvPr id="28" name="Text 21"/>
          <p:cNvSpPr/>
          <p:nvPr/>
        </p:nvSpPr>
        <p:spPr>
          <a:xfrm>
            <a:off x="9322079" y="3364992"/>
            <a:ext cx="2211248" cy="2560320"/>
          </a:xfrm>
          <a:prstGeom prst="rect">
            <a:avLst/>
          </a:prstGeom>
          <a:noFill/>
          <a:ln/>
        </p:spPr>
        <p:txBody>
          <a:bodyPr wrap="square" rtlCol="0" anchor="t"/>
          <a:lstStyle/>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Version ENRICHED</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Colonnes temporelles dérivées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04</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transform_impact.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Transform impact global</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503920" cy="3072384"/>
        </p:xfrm>
        <a:graphic>
          <a:graphicData uri="http://schemas.openxmlformats.org/drawingml/2006/table">
            <a:tbl>
              <a:tblPr/>
              <a:tblGrid>
                <a:gridCol w="32918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438912">
                <a:tc>
                  <a:txBody>
                    <a:bodyPr/>
                    <a:lstStyle/>
                    <a:p>
                      <a:pPr marL="0" indent="0" algn="l">
                        <a:buNone/>
                      </a:pPr>
                      <a:r>
                        <a:rPr lang="en-US" sz="1350" b="1" dirty="0">
                          <a:solidFill>
                            <a:srgbClr val="FFFFFF"/>
                          </a:solidFill>
                        </a:rPr>
                        <a:t>Indicateur</a:t>
                      </a:r>
                      <a:endParaRPr lang="en-US" sz="13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350" b="1" dirty="0">
                          <a:solidFill>
                            <a:srgbClr val="FFFFFF"/>
                          </a:solidFill>
                        </a:rPr>
                        <a:t>Avant</a:t>
                      </a:r>
                      <a:endParaRPr lang="en-US" sz="13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350" b="1" dirty="0">
                          <a:solidFill>
                            <a:srgbClr val="FFFFFF"/>
                          </a:solidFill>
                        </a:rPr>
                        <a:t>Après</a:t>
                      </a:r>
                      <a:endParaRPr lang="en-US" sz="13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438912">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Lignes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96 453</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96 429</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Colonnes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12</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11</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r h="438912">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Doublons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Présents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Supprimés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Valeurs manquantes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Nombreuses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Réduites / imputées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4"/>
                  </a:ext>
                </a:extLst>
              </a:tr>
              <a:tr h="438912">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Valeurs numériques incohérentes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Présentes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Corrigées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Colonne constante</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Présente</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Retirée</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6"/>
                  </a:ext>
                </a:extLst>
              </a:tr>
            </a:tbl>
          </a:graphicData>
        </a:graphic>
      </p:graphicFrame>
      <p:sp>
        <p:nvSpPr>
          <p:cNvPr id="9" name="Shape 5"/>
          <p:cNvSpPr/>
          <p:nvPr/>
        </p:nvSpPr>
        <p:spPr>
          <a:xfrm>
            <a:off x="457200" y="5074920"/>
            <a:ext cx="11277295" cy="640080"/>
          </a:xfrm>
          <a:prstGeom prst="roundRect">
            <a:avLst>
              <a:gd name="adj" fmla="val 8571"/>
            </a:avLst>
          </a:prstGeom>
          <a:solidFill>
            <a:srgbClr val="E3F5EA"/>
          </a:solidFill>
          <a:ln/>
        </p:spPr>
        <p:txBody>
          <a:bodyPr/>
          <a:lstStyle/>
          <a:p>
            <a:endParaRPr lang="fr-FR"/>
          </a:p>
        </p:txBody>
      </p:sp>
      <p:sp>
        <p:nvSpPr>
          <p:cNvPr id="10" name="Text 6"/>
          <p:cNvSpPr/>
          <p:nvPr/>
        </p:nvSpPr>
        <p:spPr>
          <a:xfrm>
            <a:off x="640080" y="5074920"/>
            <a:ext cx="10911535" cy="640080"/>
          </a:xfrm>
          <a:prstGeom prst="rect">
            <a:avLst/>
          </a:prstGeom>
          <a:noFill/>
          <a:ln/>
        </p:spPr>
        <p:txBody>
          <a:bodyPr wrap="square" rtlCol="0" anchor="ctr"/>
          <a:lstStyle/>
          <a:p>
            <a:pPr marL="0" indent="0">
              <a:buNone/>
            </a:pPr>
            <a:r>
              <a:rPr lang="en-US" sz="1400" b="1" dirty="0">
                <a:solidFill>
                  <a:srgbClr val="14532D"/>
                </a:solidFill>
                <a:latin typeface="Calibri" pitchFamily="34" charset="0"/>
                <a:ea typeface="Calibri" pitchFamily="34" charset="-122"/>
                <a:cs typeface="Calibri" pitchFamily="34" charset="-120"/>
              </a:rPr>
              <a:t>Résultat : </a:t>
            </a:r>
            <a:r>
              <a:rPr lang="en-US" sz="1400" dirty="0">
                <a:solidFill>
                  <a:srgbClr val="14532D"/>
                </a:solidFill>
                <a:latin typeface="Calibri" pitchFamily="34" charset="0"/>
                <a:ea typeface="Calibri" pitchFamily="34" charset="-122"/>
                <a:cs typeface="Calibri" pitchFamily="34" charset="-120"/>
              </a:rPr>
              <a:t>le dataset devient plus propre, plus stable et plus exploitable pour l'analyse et la prédiction.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600" b="1" dirty="0">
                <a:solidFill>
                  <a:srgbClr val="0F3D28"/>
                </a:solidFill>
                <a:latin typeface="Cambria" pitchFamily="34" charset="0"/>
                <a:ea typeface="Cambria" pitchFamily="34" charset="-122"/>
                <a:cs typeface="Cambria" pitchFamily="34" charset="-120"/>
              </a:rPr>
              <a:t>05</a:t>
            </a:r>
            <a:endParaRPr lang="en-US" sz="26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Stockage des données</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Organisation du data lake MinIO : fichiers produits et séparation des zones raw / processed.</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Présenté par : </a:t>
            </a:r>
            <a:r>
              <a:rPr lang="en-US" sz="1500" i="1" dirty="0">
                <a:solidFill>
                  <a:srgbClr val="CFEFDD"/>
                </a:solidFill>
                <a:latin typeface="Calibri" pitchFamily="34" charset="0"/>
                <a:ea typeface="Calibri" pitchFamily="34" charset="-122"/>
                <a:cs typeface="Calibri" pitchFamily="34" charset="-120"/>
              </a:rPr>
              <a:t>Thierno BALDE</a:t>
            </a:r>
            <a:endParaRPr lang="en-US" sz="1500" dirty="0"/>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05</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files.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Fichiers produits</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686800" cy="2743200"/>
        </p:xfrm>
        <a:graphic>
          <a:graphicData uri="http://schemas.openxmlformats.org/drawingml/2006/table">
            <a:tbl>
              <a:tblPr/>
              <a:tblGrid>
                <a:gridCol w="32918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pPr marL="0" indent="0" algn="l">
                        <a:buNone/>
                      </a:pPr>
                      <a:r>
                        <a:rPr lang="en-US" sz="1150" b="1" dirty="0">
                          <a:solidFill>
                            <a:srgbClr val="FFFFFF"/>
                          </a:solidFill>
                        </a:rPr>
                        <a:t>Fichier</a:t>
                      </a:r>
                      <a:endParaRPr lang="en-US" sz="11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150" b="1" dirty="0">
                          <a:solidFill>
                            <a:srgbClr val="FFFFFF"/>
                          </a:solidFill>
                        </a:rPr>
                        <a:t>Emplacement MinIO</a:t>
                      </a:r>
                      <a:endParaRPr lang="en-US" sz="11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150" b="1" dirty="0">
                          <a:solidFill>
                            <a:srgbClr val="FFFFFF"/>
                          </a:solidFill>
                        </a:rPr>
                        <a:t>Utilisation</a:t>
                      </a:r>
                      <a:endParaRPr lang="en-US" sz="11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457200">
                <a:tc>
                  <a:txBody>
                    <a:bodyPr/>
                    <a:lstStyle/>
                    <a:p>
                      <a:pPr marL="0" indent="0" algn="l">
                        <a:buNone/>
                      </a:pPr>
                      <a:r>
                        <a:rPr lang="en-US" sz="1150" dirty="0">
                          <a:solidFill>
                            <a:srgbClr val="1F2937"/>
                          </a:solidFill>
                          <a:latin typeface="Consolas" pitchFamily="34" charset="0"/>
                          <a:ea typeface="Consolas" pitchFamily="34" charset="-122"/>
                          <a:cs typeface="Consolas" pitchFamily="34" charset="-120"/>
                        </a:rPr>
                        <a:t>weather_processed.csv</a:t>
                      </a:r>
                      <a:endParaRPr lang="en-US" sz="11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onsolas" pitchFamily="34" charset="0"/>
                          <a:ea typeface="Consolas" pitchFamily="34" charset="-122"/>
                          <a:cs typeface="Consolas" pitchFamily="34" charset="-120"/>
                        </a:rPr>
                        <a:t>weather-processed/</a:t>
                      </a:r>
                      <a:endParaRPr lang="en-US" sz="11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Base nettoyée</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50" dirty="0">
                          <a:solidFill>
                            <a:srgbClr val="1F2937"/>
                          </a:solidFill>
                          <a:latin typeface="Consolas" pitchFamily="34" charset="0"/>
                          <a:ea typeface="Consolas" pitchFamily="34" charset="-122"/>
                          <a:cs typeface="Consolas" pitchFamily="34" charset="-120"/>
                        </a:rPr>
                        <a:t>weather_processed.parquet</a:t>
                      </a:r>
                      <a:endParaRPr lang="en-US" sz="11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150" dirty="0">
                          <a:solidFill>
                            <a:srgbClr val="1F2937"/>
                          </a:solidFill>
                          <a:latin typeface="Consolas" pitchFamily="34" charset="0"/>
                          <a:ea typeface="Consolas" pitchFamily="34" charset="-122"/>
                          <a:cs typeface="Consolas" pitchFamily="34" charset="-120"/>
                        </a:rPr>
                        <a:t>weather-processed/</a:t>
                      </a:r>
                      <a:endParaRPr lang="en-US" sz="11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Format columnar</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r h="457200">
                <a:tc>
                  <a:txBody>
                    <a:bodyPr/>
                    <a:lstStyle/>
                    <a:p>
                      <a:pPr marL="0" indent="0" algn="l">
                        <a:buNone/>
                      </a:pPr>
                      <a:r>
                        <a:rPr lang="en-US" sz="1150" dirty="0">
                          <a:solidFill>
                            <a:srgbClr val="1F2937"/>
                          </a:solidFill>
                          <a:latin typeface="Consolas" pitchFamily="34" charset="0"/>
                          <a:ea typeface="Consolas" pitchFamily="34" charset="-122"/>
                          <a:cs typeface="Consolas" pitchFamily="34" charset="-120"/>
                        </a:rPr>
                        <a:t>weather_processed_enriched.csv</a:t>
                      </a:r>
                      <a:endParaRPr lang="en-US" sz="11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onsolas" pitchFamily="34" charset="0"/>
                          <a:ea typeface="Consolas" pitchFamily="34" charset="-122"/>
                          <a:cs typeface="Consolas" pitchFamily="34" charset="-120"/>
                        </a:rPr>
                        <a:t>weather-processed/</a:t>
                      </a:r>
                      <a:endParaRPr lang="en-US" sz="11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Variables temporelles ajoutées</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50" dirty="0">
                          <a:solidFill>
                            <a:srgbClr val="1F2937"/>
                          </a:solidFill>
                          <a:latin typeface="Consolas" pitchFamily="34" charset="0"/>
                          <a:ea typeface="Consolas" pitchFamily="34" charset="-122"/>
                          <a:cs typeface="Consolas" pitchFamily="34" charset="-120"/>
                        </a:rPr>
                        <a:t>weather_processed_enriched.parquet</a:t>
                      </a:r>
                      <a:endParaRPr lang="en-US" sz="11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150" dirty="0">
                          <a:solidFill>
                            <a:srgbClr val="1F2937"/>
                          </a:solidFill>
                          <a:latin typeface="Consolas" pitchFamily="34" charset="0"/>
                          <a:ea typeface="Consolas" pitchFamily="34" charset="-122"/>
                          <a:cs typeface="Consolas" pitchFamily="34" charset="-120"/>
                        </a:rPr>
                        <a:t>weather-processed/</a:t>
                      </a:r>
                      <a:endParaRPr lang="en-US" sz="11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Version enrichie</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4"/>
                  </a:ext>
                </a:extLst>
              </a:tr>
              <a:tr h="457200">
                <a:tc>
                  <a:txBody>
                    <a:bodyPr/>
                    <a:lstStyle/>
                    <a:p>
                      <a:pPr marL="0" indent="0" algn="l">
                        <a:buNone/>
                      </a:pPr>
                      <a:r>
                        <a:rPr lang="en-US" sz="1150" dirty="0">
                          <a:solidFill>
                            <a:srgbClr val="1F2937"/>
                          </a:solidFill>
                          <a:latin typeface="Consolas" pitchFamily="34" charset="0"/>
                          <a:ea typeface="Consolas" pitchFamily="34" charset="-122"/>
                          <a:cs typeface="Consolas" pitchFamily="34" charset="-120"/>
                        </a:rPr>
                        <a:t>weatherHistory_clean_metadata.json</a:t>
                      </a:r>
                      <a:endParaRPr lang="en-US" sz="11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onsolas" pitchFamily="34" charset="0"/>
                          <a:ea typeface="Consolas" pitchFamily="34" charset="-122"/>
                          <a:cs typeface="Consolas" pitchFamily="34" charset="-120"/>
                        </a:rPr>
                        <a:t>weather-processed/</a:t>
                      </a:r>
                      <a:endParaRPr lang="en-US" sz="11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Métadonnées du run</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5"/>
          <p:cNvSpPr/>
          <p:nvPr/>
        </p:nvSpPr>
        <p:spPr>
          <a:xfrm>
            <a:off x="457200" y="4251960"/>
            <a:ext cx="1828800" cy="365760"/>
          </a:xfrm>
          <a:prstGeom prst="rect">
            <a:avLst/>
          </a:prstGeom>
          <a:noFill/>
          <a:ln/>
        </p:spPr>
        <p:txBody>
          <a:bodyPr wrap="square"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Copie locale :</a:t>
            </a:r>
            <a:endParaRPr lang="en-US" sz="1400" dirty="0"/>
          </a:p>
        </p:txBody>
      </p:sp>
      <p:sp>
        <p:nvSpPr>
          <p:cNvPr id="10" name="Shape 6"/>
          <p:cNvSpPr/>
          <p:nvPr/>
        </p:nvSpPr>
        <p:spPr>
          <a:xfrm>
            <a:off x="2011680" y="4206240"/>
            <a:ext cx="5486400" cy="457200"/>
          </a:xfrm>
          <a:prstGeom prst="roundRect">
            <a:avLst>
              <a:gd name="adj" fmla="val 12000"/>
            </a:avLst>
          </a:prstGeom>
          <a:solidFill>
            <a:srgbClr val="F1F3F4"/>
          </a:solidFill>
          <a:ln w="9525">
            <a:solidFill>
              <a:srgbClr val="DADFE3"/>
            </a:solidFill>
            <a:prstDash val="solid"/>
          </a:ln>
        </p:spPr>
        <p:txBody>
          <a:bodyPr/>
          <a:lstStyle/>
          <a:p>
            <a:endParaRPr lang="fr-FR"/>
          </a:p>
        </p:txBody>
      </p:sp>
      <p:sp>
        <p:nvSpPr>
          <p:cNvPr id="11" name="Text 7"/>
          <p:cNvSpPr/>
          <p:nvPr/>
        </p:nvSpPr>
        <p:spPr>
          <a:xfrm>
            <a:off x="2240280" y="4343400"/>
            <a:ext cx="5029200" cy="182880"/>
          </a:xfrm>
          <a:prstGeom prst="rect">
            <a:avLst/>
          </a:prstGeom>
          <a:noFill/>
          <a:ln/>
        </p:spPr>
        <p:txBody>
          <a:bodyPr wrap="square" rtlCol="0" anchor="t"/>
          <a:lstStyle/>
          <a:p>
            <a:pPr marL="0" indent="0">
              <a:lnSpc>
                <a:spcPct val="125000"/>
              </a:lnSpc>
              <a:buNone/>
            </a:pPr>
            <a:r>
              <a:rPr lang="en-US" sz="1300" dirty="0">
                <a:solidFill>
                  <a:srgbClr val="B4232E"/>
                </a:solidFill>
                <a:latin typeface="Consolas" pitchFamily="34" charset="0"/>
                <a:ea typeface="Consolas" pitchFamily="34" charset="-122"/>
                <a:cs typeface="Consolas" pitchFamily="34" charset="-120"/>
              </a:rPr>
              <a:t>data/processed/weather_processed.csv</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05</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minio.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err="1">
                <a:solidFill>
                  <a:srgbClr val="14532D"/>
                </a:solidFill>
                <a:latin typeface="Calibri" pitchFamily="34" charset="0"/>
                <a:ea typeface="Calibri" pitchFamily="34" charset="-122"/>
                <a:cs typeface="Calibri" pitchFamily="34" charset="-120"/>
              </a:rPr>
              <a:t>MinIO</a:t>
            </a:r>
            <a:r>
              <a:rPr lang="en-US" sz="2800" b="1" dirty="0">
                <a:solidFill>
                  <a:srgbClr val="14532D"/>
                </a:solidFill>
                <a:latin typeface="Calibri" pitchFamily="34" charset="0"/>
                <a:ea typeface="Calibri" pitchFamily="34" charset="-122"/>
                <a:cs typeface="Calibri" pitchFamily="34" charset="-120"/>
              </a:rPr>
              <a:t> Stockage</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508760"/>
            <a:ext cx="11277295" cy="548640"/>
          </a:xfrm>
          <a:prstGeom prst="rect">
            <a:avLst/>
          </a:prstGeom>
          <a:noFill/>
          <a:ln/>
        </p:spPr>
        <p:txBody>
          <a:bodyPr wrap="square" rtlCol="0" anchor="t"/>
          <a:lstStyle/>
          <a:p>
            <a:pPr marL="0" indent="0">
              <a:lnSpc>
                <a:spcPct val="115000"/>
              </a:lnSpc>
              <a:buNone/>
            </a:pPr>
            <a:r>
              <a:rPr lang="en-US" sz="1450" dirty="0">
                <a:solidFill>
                  <a:srgbClr val="1F2937"/>
                </a:solidFill>
                <a:latin typeface="Calibri" pitchFamily="34" charset="0"/>
                <a:ea typeface="Calibri" pitchFamily="34" charset="-122"/>
                <a:cs typeface="Calibri" pitchFamily="34" charset="-120"/>
              </a:rPr>
              <a:t>Deux buckets séparent la zone brute et la zone préparée :</a:t>
            </a:r>
            <a:endParaRPr lang="en-US" sz="1450" dirty="0"/>
          </a:p>
        </p:txBody>
      </p:sp>
      <p:pic>
        <p:nvPicPr>
          <p:cNvPr id="9" name="Image 1" descr="D:\SIGUI\ProjetFinal\pptx_assets\fig_minio_stockage.png"/>
          <p:cNvPicPr>
            <a:picLocks noChangeAspect="1"/>
          </p:cNvPicPr>
          <p:nvPr/>
        </p:nvPicPr>
        <p:blipFill>
          <a:blip r:embed="rId4"/>
          <a:stretch>
            <a:fillRect/>
          </a:stretch>
        </p:blipFill>
        <p:spPr>
          <a:xfrm>
            <a:off x="838048" y="2148840"/>
            <a:ext cx="10515600" cy="3673223"/>
          </a:xfrm>
          <a:prstGeom prst="rect">
            <a:avLst/>
          </a:prstGeom>
        </p:spPr>
      </p:pic>
      <p:sp>
        <p:nvSpPr>
          <p:cNvPr id="10" name="Text 6"/>
          <p:cNvSpPr/>
          <p:nvPr/>
        </p:nvSpPr>
        <p:spPr>
          <a:xfrm>
            <a:off x="457200" y="5931791"/>
            <a:ext cx="11277295" cy="32004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weather-lake (raw)  ·  weather-processed (CSV, Parquet, metadata)</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600" b="1" dirty="0">
                <a:solidFill>
                  <a:srgbClr val="0F3D28"/>
                </a:solidFill>
                <a:latin typeface="Cambria" pitchFamily="34" charset="0"/>
                <a:ea typeface="Cambria" pitchFamily="34" charset="-122"/>
                <a:cs typeface="Cambria" pitchFamily="34" charset="-120"/>
              </a:rPr>
              <a:t>06</a:t>
            </a:r>
            <a:endParaRPr lang="en-US" sz="26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Chargement &amp; livrables ETL</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Chargement des données dans l'entrepôt MongoDB et synthèse des livrables produits par l'équipe ETL.</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Présenté par : </a:t>
            </a:r>
            <a:r>
              <a:rPr lang="en-US" sz="1500" i="1" dirty="0" err="1">
                <a:solidFill>
                  <a:srgbClr val="CFEFDD"/>
                </a:solidFill>
                <a:latin typeface="Calibri" pitchFamily="34" charset="0"/>
                <a:ea typeface="Calibri" pitchFamily="34" charset="-122"/>
                <a:cs typeface="Calibri" pitchFamily="34" charset="-120"/>
              </a:rPr>
              <a:t>Mortalla</a:t>
            </a:r>
            <a:r>
              <a:rPr lang="en-US" sz="1500" i="1" dirty="0">
                <a:solidFill>
                  <a:srgbClr val="CFEFDD"/>
                </a:solidFill>
                <a:latin typeface="Calibri" pitchFamily="34" charset="0"/>
                <a:ea typeface="Calibri" pitchFamily="34" charset="-122"/>
                <a:cs typeface="Calibri" pitchFamily="34" charset="-120"/>
              </a:rPr>
              <a:t> TOURE</a:t>
            </a:r>
            <a:endParaRPr lang="en-US" sz="1500" dirty="0"/>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06</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load.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Load Data Warehouse MongoDB</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320040"/>
          </a:xfrm>
          <a:prstGeom prst="rect">
            <a:avLst/>
          </a:prstGeom>
          <a:noFill/>
          <a:ln/>
        </p:spPr>
        <p:txBody>
          <a:bodyPr wrap="square"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Script : etl/load.py (pymongo)</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8229600" cy="2852928"/>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475488">
                <a:tc>
                  <a:txBody>
                    <a:bodyPr/>
                    <a:lstStyle/>
                    <a:p>
                      <a:pPr marL="0" indent="0" algn="l">
                        <a:buNone/>
                      </a:pPr>
                      <a:r>
                        <a:rPr lang="en-US" sz="1350" b="1" dirty="0">
                          <a:solidFill>
                            <a:srgbClr val="FFFFFF"/>
                          </a:solidFill>
                        </a:rPr>
                        <a:t>Élément</a:t>
                      </a:r>
                      <a:endParaRPr lang="en-US" sz="13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350" b="1" dirty="0">
                          <a:solidFill>
                            <a:srgbClr val="FFFFFF"/>
                          </a:solidFill>
                        </a:rPr>
                        <a:t>Valeur</a:t>
                      </a:r>
                      <a:endParaRPr lang="en-US" sz="13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475488">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Base / Collection</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937"/>
                          </a:solidFill>
                          <a:latin typeface="Consolas" pitchFamily="34" charset="0"/>
                          <a:ea typeface="Consolas" pitchFamily="34" charset="-122"/>
                          <a:cs typeface="Consolas" pitchFamily="34" charset="-120"/>
                        </a:rPr>
                        <a:t>weather_dwh / weather_observations</a:t>
                      </a:r>
                      <a:endParaRPr lang="en-US" sz="13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Documents chargés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50" dirty="0">
                          <a:solidFill>
                            <a:srgbClr val="1F2937"/>
                          </a:solidFill>
                          <a:latin typeface="Consolas" pitchFamily="34" charset="0"/>
                          <a:ea typeface="Consolas" pitchFamily="34" charset="-122"/>
                          <a:cs typeface="Consolas" pitchFamily="34" charset="-120"/>
                        </a:rPr>
                        <a:t>96 429</a:t>
                      </a:r>
                      <a:endParaRPr lang="en-US" sz="13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r h="475488">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Mode</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937"/>
                          </a:solidFill>
                          <a:latin typeface="Consolas" pitchFamily="34" charset="0"/>
                          <a:ea typeface="Consolas" pitchFamily="34" charset="-122"/>
                          <a:cs typeface="Consolas" pitchFamily="34" charset="-120"/>
                        </a:rPr>
                        <a:t>Remplacement complet (pas de doublons)</a:t>
                      </a:r>
                      <a:endParaRPr lang="en-US" sz="13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Index</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50" dirty="0">
                          <a:solidFill>
                            <a:srgbClr val="1F2937"/>
                          </a:solidFill>
                          <a:latin typeface="Consolas" pitchFamily="34" charset="0"/>
                          <a:ea typeface="Consolas" pitchFamily="34" charset="-122"/>
                          <a:cs typeface="Consolas" pitchFamily="34" charset="-120"/>
                        </a:rPr>
                        <a:t>date_time (unique), precip_type</a:t>
                      </a:r>
                      <a:endParaRPr lang="en-US" sz="13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4"/>
                  </a:ext>
                </a:extLst>
              </a:tr>
              <a:tr h="475488">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Batch size</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937"/>
                          </a:solidFill>
                          <a:latin typeface="Consolas" pitchFamily="34" charset="0"/>
                          <a:ea typeface="Consolas" pitchFamily="34" charset="-122"/>
                          <a:cs typeface="Consolas" pitchFamily="34" charset="-120"/>
                        </a:rPr>
                        <a:t>5 000 (MONGO_BATCH_SIZE)</a:t>
                      </a:r>
                      <a:endParaRPr lang="en-US" sz="13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6"/>
          <p:cNvSpPr/>
          <p:nvPr/>
        </p:nvSpPr>
        <p:spPr>
          <a:xfrm>
            <a:off x="457200" y="4617720"/>
            <a:ext cx="11277295" cy="457200"/>
          </a:xfrm>
          <a:prstGeom prst="rect">
            <a:avLst/>
          </a:prstGeom>
          <a:noFill/>
          <a:ln/>
        </p:spPr>
        <p:txBody>
          <a:bodyPr wrap="square" rtlCol="0" anchor="t"/>
          <a:lstStyle/>
          <a:p>
            <a:pPr marL="0" indent="0">
              <a:lnSpc>
                <a:spcPct val="115000"/>
              </a:lnSpc>
              <a:buNone/>
            </a:pPr>
            <a:r>
              <a:rPr lang="en-US" sz="1400" dirty="0">
                <a:solidFill>
                  <a:srgbClr val="1F2937"/>
                </a:solidFill>
                <a:latin typeface="Calibri" pitchFamily="34" charset="0"/>
                <a:ea typeface="Calibri" pitchFamily="34" charset="-122"/>
                <a:cs typeface="Calibri" pitchFamily="34" charset="-120"/>
              </a:rPr>
              <a:t>Restauration fournie via mongodump / mongorestore.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06</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mongo_code.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MongoDB Schéma d'un document</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41148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Les données transformées sont stockées dans MongoDB sous forme de documents JSON.</a:t>
            </a:r>
            <a:endParaRPr lang="en-US" sz="1500" dirty="0"/>
          </a:p>
        </p:txBody>
      </p:sp>
      <p:sp>
        <p:nvSpPr>
          <p:cNvPr id="9" name="Shape 6"/>
          <p:cNvSpPr/>
          <p:nvPr/>
        </p:nvSpPr>
        <p:spPr>
          <a:xfrm>
            <a:off x="457200" y="1965960"/>
            <a:ext cx="11277295" cy="3749040"/>
          </a:xfrm>
          <a:prstGeom prst="roundRect">
            <a:avLst>
              <a:gd name="adj" fmla="val 1463"/>
            </a:avLst>
          </a:prstGeom>
          <a:solidFill>
            <a:srgbClr val="F1F3F4"/>
          </a:solidFill>
          <a:ln w="9525">
            <a:solidFill>
              <a:srgbClr val="DADFE3"/>
            </a:solidFill>
            <a:prstDash val="solid"/>
          </a:ln>
        </p:spPr>
        <p:txBody>
          <a:bodyPr/>
          <a:lstStyle/>
          <a:p>
            <a:endParaRPr lang="fr-FR"/>
          </a:p>
        </p:txBody>
      </p:sp>
      <p:sp>
        <p:nvSpPr>
          <p:cNvPr id="10" name="Text 7"/>
          <p:cNvSpPr/>
          <p:nvPr/>
        </p:nvSpPr>
        <p:spPr>
          <a:xfrm>
            <a:off x="685800" y="2103120"/>
            <a:ext cx="10820095" cy="3474720"/>
          </a:xfrm>
          <a:prstGeom prst="rect">
            <a:avLst/>
          </a:prstGeom>
          <a:noFill/>
          <a:ln/>
        </p:spPr>
        <p:txBody>
          <a:bodyPr wrap="square" rtlCol="0" anchor="t"/>
          <a:lstStyle/>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  "date_time": "2006-01-01T00:00:00Z",</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  "summary": "Mostly Cloudy",</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  "precip_type": "rain",</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  "temperature_c": 1.16,</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  "apparent_temperature_c": -3.24,</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  "humidity": 0.85,</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  "wind_speed_km_per_h": 16.62,</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  "wind_bearing_degrees": 139.0,</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  "visibility_km": 9.90,</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  "pressure_millibars": 1016.15,</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  "daily_summary": "Mostly cloudy throughout the day."</a:t>
            </a:r>
            <a:endParaRPr lang="en-US" sz="1250" dirty="0"/>
          </a:p>
          <a:p>
            <a:pPr marL="0" indent="0">
              <a:lnSpc>
                <a:spcPct val="125000"/>
              </a:lnSpc>
              <a:buNone/>
            </a:pPr>
            <a:r>
              <a:rPr lang="en-US" sz="1250" dirty="0">
                <a:solidFill>
                  <a:srgbClr val="B4232E"/>
                </a:solidFill>
                <a:latin typeface="Consolas" pitchFamily="34" charset="0"/>
                <a:ea typeface="Consolas" pitchFamily="34" charset="-122"/>
                <a:cs typeface="Consolas" pitchFamily="34" charset="-120"/>
              </a:rPr>
              <a: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06</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livrables.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err="1">
                <a:solidFill>
                  <a:srgbClr val="14532D"/>
                </a:solidFill>
                <a:latin typeface="Calibri" pitchFamily="34" charset="0"/>
                <a:ea typeface="Calibri" pitchFamily="34" charset="-122"/>
                <a:cs typeface="Calibri" pitchFamily="34" charset="-120"/>
              </a:rPr>
              <a:t>Livrables</a:t>
            </a:r>
            <a:r>
              <a:rPr lang="en-US" sz="2800" b="1" dirty="0">
                <a:solidFill>
                  <a:srgbClr val="14532D"/>
                </a:solidFill>
                <a:latin typeface="Calibri" pitchFamily="34" charset="0"/>
                <a:ea typeface="Calibri" pitchFamily="34" charset="-122"/>
                <a:cs typeface="Calibri" pitchFamily="34" charset="-120"/>
              </a:rPr>
              <a:t> ETL</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686800" cy="2514600"/>
        </p:xfrm>
        <a:graphic>
          <a:graphicData uri="http://schemas.openxmlformats.org/drawingml/2006/table">
            <a:tbl>
              <a:tblPr/>
              <a:tblGrid>
                <a:gridCol w="23774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02920">
                <a:tc>
                  <a:txBody>
                    <a:bodyPr/>
                    <a:lstStyle/>
                    <a:p>
                      <a:pPr marL="0" indent="0" algn="l">
                        <a:buNone/>
                      </a:pPr>
                      <a:r>
                        <a:rPr lang="en-US" sz="1250" b="1" dirty="0">
                          <a:solidFill>
                            <a:srgbClr val="FFFFFF"/>
                          </a:solidFill>
                        </a:rPr>
                        <a:t>Livrable</a:t>
                      </a:r>
                      <a:endParaRPr lang="en-US" sz="12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250" b="1" dirty="0">
                          <a:solidFill>
                            <a:srgbClr val="FFFFFF"/>
                          </a:solidFill>
                        </a:rPr>
                        <a:t>Emplacement</a:t>
                      </a:r>
                      <a:endParaRPr lang="en-US" sz="12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250" b="1" dirty="0">
                          <a:solidFill>
                            <a:srgbClr val="FFFFFF"/>
                          </a:solidFill>
                        </a:rPr>
                        <a:t>Format</a:t>
                      </a:r>
                      <a:endParaRPr lang="en-US" sz="12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502920">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Dataset nettoyé</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937"/>
                          </a:solidFill>
                          <a:latin typeface="Consolas" pitchFamily="34" charset="0"/>
                          <a:ea typeface="Consolas" pitchFamily="34" charset="-122"/>
                          <a:cs typeface="Consolas" pitchFamily="34" charset="-120"/>
                        </a:rPr>
                        <a:t>rapport/data/processed/weather_processed.csv</a:t>
                      </a:r>
                      <a:endParaRPr lang="en-US" sz="12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CSV (~11 col.)</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Dataset brut</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250" dirty="0">
                          <a:solidFill>
                            <a:srgbClr val="1F2937"/>
                          </a:solidFill>
                          <a:latin typeface="Consolas" pitchFamily="34" charset="0"/>
                          <a:ea typeface="Consolas" pitchFamily="34" charset="-122"/>
                          <a:cs typeface="Consolas" pitchFamily="34" charset="-120"/>
                        </a:rPr>
                        <a:t>rapport/data/raw/weatherHistory.csv</a:t>
                      </a:r>
                      <a:endParaRPr lang="en-US" sz="12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CSV</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r h="502920">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Dump MongoDB</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937"/>
                          </a:solidFill>
                          <a:latin typeface="Consolas" pitchFamily="34" charset="0"/>
                          <a:ea typeface="Consolas" pitchFamily="34" charset="-122"/>
                          <a:cs typeface="Consolas" pitchFamily="34" charset="-120"/>
                        </a:rPr>
                        <a:t>rapport/database/dump/</a:t>
                      </a:r>
                      <a:endParaRPr lang="en-US" sz="12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BSON (mongodump)</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Code + infra</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250" dirty="0">
                          <a:solidFill>
                            <a:srgbClr val="1F2937"/>
                          </a:solidFill>
                          <a:latin typeface="Consolas" pitchFamily="34" charset="0"/>
                          <a:ea typeface="Consolas" pitchFamily="34" charset="-122"/>
                          <a:cs typeface="Consolas" pitchFamily="34" charset="-120"/>
                        </a:rPr>
                        <a:t>weather-DE-Project</a:t>
                      </a:r>
                      <a:endParaRPr lang="en-US" sz="12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250" dirty="0">
                          <a:solidFill>
                            <a:srgbClr val="1F2937"/>
                          </a:solidFill>
                          <a:latin typeface="Calibri" pitchFamily="34" charset="0"/>
                          <a:ea typeface="Calibri" pitchFamily="34" charset="-122"/>
                          <a:cs typeface="Calibri" pitchFamily="34" charset="-120"/>
                        </a:rPr>
                        <a:t>Git + Docker</a:t>
                      </a:r>
                      <a:endParaRPr lang="en-US" sz="12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600" b="1" dirty="0">
                <a:solidFill>
                  <a:srgbClr val="0F3D28"/>
                </a:solidFill>
                <a:latin typeface="Cambria" pitchFamily="34" charset="0"/>
                <a:ea typeface="Cambria" pitchFamily="34" charset="-122"/>
                <a:cs typeface="Cambria" pitchFamily="34" charset="-120"/>
              </a:rPr>
              <a:t>07</a:t>
            </a:r>
            <a:endParaRPr lang="en-US" sz="26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Analyse exploratoire</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Transmission des données à l'équipe Analyse, première exploration statistique et étude de la saisonnalité.</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Présenté par : </a:t>
            </a:r>
            <a:r>
              <a:rPr lang="en-US" sz="1500" i="1" dirty="0">
                <a:solidFill>
                  <a:srgbClr val="CFEFDD"/>
                </a:solidFill>
                <a:latin typeface="Calibri" pitchFamily="34" charset="0"/>
                <a:ea typeface="Calibri" pitchFamily="34" charset="-122"/>
                <a:cs typeface="Calibri" pitchFamily="34" charset="-120"/>
              </a:rPr>
              <a:t>COULIBALY Laure Elodie</a:t>
            </a:r>
            <a:endParaRPr lang="en-US" sz="1500" dirty="0"/>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07</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handoff.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De l'ETL à l'analyse</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64008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Avant toute analyse, la qualité du fichier transmis par l'équipe ETL a été vérifiée de façon indépendante par l'équipe Analyse.</a:t>
            </a:r>
            <a:endParaRPr lang="en-US" sz="15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8229600" cy="182880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7200">
                <a:tc>
                  <a:txBody>
                    <a:bodyPr/>
                    <a:lstStyle/>
                    <a:p>
                      <a:pPr marL="0" indent="0" algn="l">
                        <a:buNone/>
                      </a:pPr>
                      <a:r>
                        <a:rPr lang="en-US" sz="1350" b="1" dirty="0">
                          <a:solidFill>
                            <a:srgbClr val="FFFFFF"/>
                          </a:solidFill>
                        </a:rPr>
                        <a:t>Fichier transmis</a:t>
                      </a:r>
                      <a:endParaRPr lang="en-US" sz="13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350" b="1" dirty="0">
                          <a:solidFill>
                            <a:srgbClr val="FFFFFF"/>
                          </a:solidFill>
                        </a:rPr>
                        <a:t>Valeur</a:t>
                      </a:r>
                      <a:endParaRPr lang="en-US" sz="13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457200">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Nom</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937"/>
                          </a:solidFill>
                          <a:latin typeface="Consolas" pitchFamily="34" charset="0"/>
                          <a:ea typeface="Consolas" pitchFamily="34" charset="-122"/>
                          <a:cs typeface="Consolas" pitchFamily="34" charset="-120"/>
                        </a:rPr>
                        <a:t>weather_processed_enriched.csv</a:t>
                      </a:r>
                      <a:endParaRPr lang="en-US" sz="13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Lignes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350" dirty="0">
                          <a:solidFill>
                            <a:srgbClr val="1F2937"/>
                          </a:solidFill>
                          <a:latin typeface="Consolas" pitchFamily="34" charset="0"/>
                          <a:ea typeface="Consolas" pitchFamily="34" charset="-122"/>
                          <a:cs typeface="Consolas" pitchFamily="34" charset="-120"/>
                        </a:rPr>
                        <a:t>96 429</a:t>
                      </a:r>
                      <a:endParaRPr lang="en-US" sz="13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r h="457200">
                <a:tc>
                  <a:txBody>
                    <a:bodyPr/>
                    <a:lstStyle/>
                    <a:p>
                      <a:pPr marL="0" indent="0" algn="l">
                        <a:buNone/>
                      </a:pPr>
                      <a:r>
                        <a:rPr lang="en-US" sz="1350" dirty="0">
                          <a:solidFill>
                            <a:srgbClr val="1F2937"/>
                          </a:solidFill>
                          <a:latin typeface="Calibri" pitchFamily="34" charset="0"/>
                          <a:ea typeface="Calibri" pitchFamily="34" charset="-122"/>
                          <a:cs typeface="Calibri" pitchFamily="34" charset="-120"/>
                        </a:rPr>
                        <a:t>Colonnes</a:t>
                      </a:r>
                      <a:endParaRPr lang="en-US" sz="13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F2937"/>
                          </a:solidFill>
                          <a:latin typeface="Consolas" pitchFamily="34" charset="0"/>
                          <a:ea typeface="Consolas" pitchFamily="34" charset="-122"/>
                          <a:cs typeface="Consolas" pitchFamily="34" charset="-120"/>
                        </a:rPr>
                        <a:t>17 (dont variables temporelles enrichies)</a:t>
                      </a:r>
                      <a:endParaRPr lang="en-US" sz="1350" dirty="0">
                        <a:latin typeface="Consolas" charset="0"/>
                        <a:ea typeface="Consolas" charset="0"/>
                        <a:cs typeface="Consolas"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6"/>
          <p:cNvSpPr/>
          <p:nvPr/>
        </p:nvSpPr>
        <p:spPr>
          <a:xfrm>
            <a:off x="457200" y="4023360"/>
            <a:ext cx="11277295" cy="1417320"/>
          </a:xfrm>
          <a:prstGeom prst="roundRect">
            <a:avLst>
              <a:gd name="adj" fmla="val 5161"/>
            </a:avLst>
          </a:prstGeom>
          <a:solidFill>
            <a:srgbClr val="E3F5EA"/>
          </a:solidFill>
          <a:ln/>
        </p:spPr>
        <p:txBody>
          <a:bodyPr/>
          <a:lstStyle/>
          <a:p>
            <a:endParaRPr lang="fr-FR"/>
          </a:p>
        </p:txBody>
      </p:sp>
      <p:sp>
        <p:nvSpPr>
          <p:cNvPr id="11" name="Text 7"/>
          <p:cNvSpPr/>
          <p:nvPr/>
        </p:nvSpPr>
        <p:spPr>
          <a:xfrm>
            <a:off x="685800" y="4160520"/>
            <a:ext cx="10820095" cy="1188720"/>
          </a:xfrm>
          <a:prstGeom prst="rect">
            <a:avLst/>
          </a:prstGeom>
          <a:noFill/>
          <a:ln/>
        </p:spPr>
        <p:txBody>
          <a:bodyPr wrap="square" rtlCol="0" anchor="t"/>
          <a:lstStyle/>
          <a:p>
            <a:pPr marL="0" indent="0">
              <a:lnSpc>
                <a:spcPct val="125000"/>
              </a:lnSpc>
              <a:buNone/>
            </a:pPr>
            <a:r>
              <a:rPr lang="en-US" sz="1400" b="1" dirty="0">
                <a:solidFill>
                  <a:srgbClr val="14532D"/>
                </a:solidFill>
                <a:latin typeface="Calibri" pitchFamily="34" charset="0"/>
                <a:ea typeface="Calibri" pitchFamily="34" charset="-122"/>
                <a:cs typeface="Calibri" pitchFamily="34" charset="-120"/>
              </a:rPr>
              <a:t>Vérification indépendante confirmée :</a:t>
            </a:r>
            <a:endParaRPr lang="en-US" sz="1400" dirty="0"/>
          </a:p>
          <a:p>
            <a:pPr marL="0" indent="0">
              <a:lnSpc>
                <a:spcPct val="125000"/>
              </a:lnSpc>
              <a:buNone/>
            </a:pPr>
            <a:r>
              <a:rPr lang="en-US" sz="1400" dirty="0">
                <a:solidFill>
                  <a:srgbClr val="1F2937"/>
                </a:solidFill>
                <a:latin typeface="Calibri" pitchFamily="34" charset="0"/>
                <a:ea typeface="Calibri" pitchFamily="34" charset="-122"/>
                <a:cs typeface="Calibri" pitchFamily="34" charset="-120"/>
              </a:rPr>
              <a:t>✓ Aucune valeur manquante résiduelle   ·   ✓ Aucun doublon résiduel</a:t>
            </a:r>
            <a:endParaRPr lang="en-US" sz="1400" dirty="0"/>
          </a:p>
          <a:p>
            <a:pPr marL="0" indent="0">
              <a:lnSpc>
                <a:spcPct val="125000"/>
              </a:lnSpc>
              <a:buNone/>
            </a:pPr>
            <a:r>
              <a:rPr lang="en-US" sz="1200" i="1" dirty="0">
                <a:solidFill>
                  <a:srgbClr val="6B7280"/>
                </a:solidFill>
                <a:latin typeface="Calibri" pitchFamily="34" charset="0"/>
                <a:ea typeface="Calibri" pitchFamily="34" charset="-122"/>
                <a:cs typeface="Calibri" pitchFamily="34" charset="-120"/>
              </a:rPr>
              <a:t>(517 précipitations, 24 doublons et 1 288 valeurs de pression déjà corrigés en Partie 04)</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07</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eda.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Analyse exploratoire des données (EDA)</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508760"/>
            <a:ext cx="11277295" cy="36576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L'exploration du dataset a permis d'étudier :</a:t>
            </a:r>
            <a:endParaRPr lang="en-US" sz="1500" dirty="0"/>
          </a:p>
        </p:txBody>
      </p:sp>
      <p:sp>
        <p:nvSpPr>
          <p:cNvPr id="9" name="Text 6"/>
          <p:cNvSpPr/>
          <p:nvPr/>
        </p:nvSpPr>
        <p:spPr>
          <a:xfrm>
            <a:off x="457200" y="1920240"/>
            <a:ext cx="11277295" cy="1645920"/>
          </a:xfrm>
          <a:prstGeom prst="rect">
            <a:avLst/>
          </a:prstGeom>
          <a:noFill/>
          <a:ln/>
        </p:spPr>
        <p:txBody>
          <a:bodyPr wrap="square" rtlCol="0" anchor="t"/>
          <a:lstStyle/>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la température</a:t>
            </a:r>
            <a:endParaRPr lang="en-US" sz="1500" dirty="0"/>
          </a:p>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l'humidité</a:t>
            </a:r>
            <a:endParaRPr lang="en-US" sz="1500" dirty="0"/>
          </a:p>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la vitesse du vent</a:t>
            </a:r>
            <a:endParaRPr lang="en-US" sz="1500" dirty="0"/>
          </a:p>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la pression atmosphérique</a:t>
            </a:r>
            <a:endParaRPr lang="en-US" sz="1500" dirty="0"/>
          </a:p>
        </p:txBody>
      </p:sp>
      <p:sp>
        <p:nvSpPr>
          <p:cNvPr id="10" name="Text 7"/>
          <p:cNvSpPr/>
          <p:nvPr/>
        </p:nvSpPr>
        <p:spPr>
          <a:xfrm>
            <a:off x="457200" y="3611880"/>
            <a:ext cx="11277295" cy="36576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Les analyses réalisées comprennent :</a:t>
            </a:r>
            <a:endParaRPr lang="en-US" sz="1500" dirty="0"/>
          </a:p>
        </p:txBody>
      </p:sp>
      <p:sp>
        <p:nvSpPr>
          <p:cNvPr id="11" name="Text 8"/>
          <p:cNvSpPr/>
          <p:nvPr/>
        </p:nvSpPr>
        <p:spPr>
          <a:xfrm>
            <a:off x="457200" y="4023360"/>
            <a:ext cx="11277295" cy="1645920"/>
          </a:xfrm>
          <a:prstGeom prst="rect">
            <a:avLst/>
          </a:prstGeom>
          <a:noFill/>
          <a:ln/>
        </p:spPr>
        <p:txBody>
          <a:bodyPr wrap="square" rtlCol="0" anchor="t"/>
          <a:lstStyle/>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statistiques descriptives</a:t>
            </a:r>
            <a:endParaRPr lang="en-US" sz="1500" dirty="0"/>
          </a:p>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distributions des variables</a:t>
            </a:r>
            <a:endParaRPr lang="en-US" sz="1500" dirty="0"/>
          </a:p>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évolution temporelle</a:t>
            </a:r>
            <a:endParaRPr lang="en-US" sz="1500" dirty="0"/>
          </a:p>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étude des relations entre variables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07</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season.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Saisonnalité des températures</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91440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L'évolution de la température moyenne mensuelle sur la période 2005–2016 confirme la cohérence du dataset avec un climat continental typique, marqué par une forte saisonnalité.</a:t>
            </a:r>
            <a:endParaRPr lang="en-US" sz="15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2606040"/>
          <a:ext cx="5486400" cy="150876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502920">
                <a:tc>
                  <a:txBody>
                    <a:bodyPr/>
                    <a:lstStyle/>
                    <a:p>
                      <a:pPr marL="0" indent="0" algn="l">
                        <a:buNone/>
                      </a:pPr>
                      <a:r>
                        <a:rPr lang="en-US" sz="1500" b="1" dirty="0">
                          <a:solidFill>
                            <a:srgbClr val="FFFFFF"/>
                          </a:solidFill>
                        </a:rPr>
                        <a:t>Saison</a:t>
                      </a:r>
                      <a:endParaRPr lang="en-US" sz="15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500" b="1" dirty="0">
                          <a:solidFill>
                            <a:srgbClr val="FFFFFF"/>
                          </a:solidFill>
                        </a:rPr>
                        <a:t>Température moyenne</a:t>
                      </a:r>
                      <a:endParaRPr lang="en-US" sz="15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502920">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Hiver</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 1,5 °C</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Été</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 22 °C</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600" b="1" dirty="0">
                <a:solidFill>
                  <a:srgbClr val="0F3D28"/>
                </a:solidFill>
                <a:latin typeface="Cambria" pitchFamily="34" charset="0"/>
                <a:ea typeface="Cambria" pitchFamily="34" charset="-122"/>
                <a:cs typeface="Cambria" pitchFamily="34" charset="-120"/>
              </a:rPr>
              <a:t>08</a:t>
            </a:r>
            <a:endParaRPr lang="en-US" sz="26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Résultats statistiques</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Vérification statistique des relations observées et détection des valeurs aberrantes.</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Présenté par : </a:t>
            </a:r>
            <a:r>
              <a:rPr lang="en-US" sz="1500" i="1" dirty="0" err="1">
                <a:solidFill>
                  <a:srgbClr val="CFEFDD"/>
                </a:solidFill>
                <a:latin typeface="Calibri" pitchFamily="34" charset="0"/>
                <a:ea typeface="Calibri" pitchFamily="34" charset="-122"/>
                <a:cs typeface="Calibri" pitchFamily="34" charset="-120"/>
              </a:rPr>
              <a:t>Ousseynou</a:t>
            </a:r>
            <a:r>
              <a:rPr lang="en-US" sz="1500" i="1" dirty="0">
                <a:solidFill>
                  <a:srgbClr val="CFEFDD"/>
                </a:solidFill>
                <a:latin typeface="Calibri" pitchFamily="34" charset="0"/>
                <a:ea typeface="Calibri" pitchFamily="34" charset="-122"/>
                <a:cs typeface="Calibri" pitchFamily="34" charset="-120"/>
              </a:rPr>
              <a:t> DIOUF</a:t>
            </a:r>
            <a:endParaRPr lang="en-US" sz="1500" dirty="0"/>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08</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stats.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err="1">
                <a:solidFill>
                  <a:srgbClr val="14532D"/>
                </a:solidFill>
                <a:latin typeface="Calibri" pitchFamily="34" charset="0"/>
                <a:ea typeface="Calibri" pitchFamily="34" charset="-122"/>
                <a:cs typeface="Calibri" pitchFamily="34" charset="-120"/>
              </a:rPr>
              <a:t>Analyse</a:t>
            </a:r>
            <a:r>
              <a:rPr lang="en-US" sz="2800" b="1" dirty="0">
                <a:solidFill>
                  <a:srgbClr val="14532D"/>
                </a:solidFill>
                <a:latin typeface="Calibri" pitchFamily="34" charset="0"/>
                <a:ea typeface="Calibri" pitchFamily="34" charset="-122"/>
                <a:cs typeface="Calibri" pitchFamily="34" charset="-120"/>
              </a:rPr>
              <a:t> Résultats statistiques</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41148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Des tests statistiques ont été réalisés afin de vérifier les relations observées.</a:t>
            </a:r>
            <a:endParaRPr lang="en-US" sz="15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8229600" cy="251460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02920">
                <a:tc>
                  <a:txBody>
                    <a:bodyPr/>
                    <a:lstStyle/>
                    <a:p>
                      <a:pPr marL="0" indent="0" algn="l">
                        <a:buNone/>
                      </a:pPr>
                      <a:r>
                        <a:rPr lang="en-US" sz="1400" b="1" dirty="0">
                          <a:solidFill>
                            <a:srgbClr val="FFFFFF"/>
                          </a:solidFill>
                        </a:rPr>
                        <a:t>Analyse</a:t>
                      </a:r>
                      <a:endParaRPr lang="en-US" sz="14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400" b="1" dirty="0">
                          <a:solidFill>
                            <a:srgbClr val="FFFFFF"/>
                          </a:solidFill>
                        </a:rPr>
                        <a:t>Résultat</a:t>
                      </a:r>
                      <a:endParaRPr lang="en-US" sz="14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502920">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Corrélation température / humidité</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r = -0,63</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Significativité</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p &lt; 0,001</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r h="502920">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Différences entre saisons</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Significatives</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Vent selon type de précipitation</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400" dirty="0">
                          <a:solidFill>
                            <a:srgbClr val="1F2937"/>
                          </a:solidFill>
                          <a:latin typeface="Calibri" pitchFamily="34" charset="0"/>
                          <a:ea typeface="Calibri" pitchFamily="34" charset="-122"/>
                          <a:cs typeface="Calibri" pitchFamily="34" charset="-120"/>
                        </a:rPr>
                        <a:t>Différence significative</a:t>
                      </a:r>
                      <a:endParaRPr lang="en-US" sz="14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4"/>
                  </a:ext>
                </a:extLst>
              </a:tr>
            </a:tbl>
          </a:graphicData>
        </a:graphic>
      </p:graphicFrame>
      <p:sp>
        <p:nvSpPr>
          <p:cNvPr id="10" name="Text 6"/>
          <p:cNvSpPr/>
          <p:nvPr/>
        </p:nvSpPr>
        <p:spPr>
          <a:xfrm>
            <a:off x="457200" y="4389120"/>
            <a:ext cx="11277295" cy="457200"/>
          </a:xfrm>
          <a:prstGeom prst="rect">
            <a:avLst/>
          </a:prstGeom>
          <a:noFill/>
          <a:ln/>
        </p:spPr>
        <p:txBody>
          <a:bodyPr wrap="square" rtlCol="0" anchor="t"/>
          <a:lstStyle/>
          <a:p>
            <a:pPr marL="0" indent="0">
              <a:lnSpc>
                <a:spcPct val="115000"/>
              </a:lnSpc>
              <a:buNone/>
            </a:pPr>
            <a:r>
              <a:rPr lang="en-US" sz="1450" dirty="0">
                <a:solidFill>
                  <a:srgbClr val="1F2937"/>
                </a:solidFill>
                <a:latin typeface="Calibri" pitchFamily="34" charset="0"/>
                <a:ea typeface="Calibri" pitchFamily="34" charset="-122"/>
                <a:cs typeface="Calibri" pitchFamily="34" charset="-120"/>
              </a:rPr>
              <a:t>La relation entre température et humidité montre donc un lien négatif fort.</a:t>
            </a:r>
            <a:endParaRPr lang="en-US" sz="14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08</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outliers.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Détection des valeurs aberrantes</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50292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Une détection des valeurs extrêmes a été réalisée avec la méthode de l'écart interquartile (IQR).</a:t>
            </a:r>
            <a:endParaRPr lang="en-US" sz="1500" dirty="0"/>
          </a:p>
        </p:txBody>
      </p:sp>
      <p:sp>
        <p:nvSpPr>
          <p:cNvPr id="9" name="Text 6"/>
          <p:cNvSpPr/>
          <p:nvPr/>
        </p:nvSpPr>
        <p:spPr>
          <a:xfrm>
            <a:off x="457200" y="2057400"/>
            <a:ext cx="11277295" cy="36576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Variables étudiées :</a:t>
            </a:r>
            <a:endParaRPr lang="en-US" sz="1500" dirty="0"/>
          </a:p>
        </p:txBody>
      </p:sp>
      <p:sp>
        <p:nvSpPr>
          <p:cNvPr id="10" name="Text 7"/>
          <p:cNvSpPr/>
          <p:nvPr/>
        </p:nvSpPr>
        <p:spPr>
          <a:xfrm>
            <a:off x="457200" y="2423160"/>
            <a:ext cx="11277295" cy="914400"/>
          </a:xfrm>
          <a:prstGeom prst="rect">
            <a:avLst/>
          </a:prstGeom>
          <a:noFill/>
          <a:ln/>
        </p:spPr>
        <p:txBody>
          <a:bodyPr wrap="square" rtlCol="0" anchor="t"/>
          <a:lstStyle/>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vitesse du vent</a:t>
            </a:r>
            <a:endParaRPr lang="en-US" sz="1500" dirty="0"/>
          </a:p>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pression atmosphérique</a:t>
            </a:r>
            <a:endParaRPr lang="en-US" sz="1500" dirty="0"/>
          </a:p>
        </p:txBody>
      </p:sp>
      <p:sp>
        <p:nvSpPr>
          <p:cNvPr id="11" name="Text 8"/>
          <p:cNvSpPr/>
          <p:nvPr/>
        </p:nvSpPr>
        <p:spPr>
          <a:xfrm>
            <a:off x="457200" y="3383280"/>
            <a:ext cx="11277295" cy="36576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Résultat :</a:t>
            </a:r>
            <a:endParaRPr lang="en-US" sz="1500" dirty="0"/>
          </a:p>
        </p:txBody>
      </p:sp>
      <p:sp>
        <p:nvSpPr>
          <p:cNvPr id="12" name="Text 9"/>
          <p:cNvSpPr/>
          <p:nvPr/>
        </p:nvSpPr>
        <p:spPr>
          <a:xfrm>
            <a:off x="457200" y="3749040"/>
            <a:ext cx="11277295" cy="1371600"/>
          </a:xfrm>
          <a:prstGeom prst="rect">
            <a:avLst/>
          </a:prstGeom>
          <a:noFill/>
          <a:ln/>
        </p:spPr>
        <p:txBody>
          <a:bodyPr wrap="square" rtlCol="0" anchor="t"/>
          <a:lstStyle/>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certaines valeurs extrêmes ont été détectées</a:t>
            </a:r>
            <a:endParaRPr lang="en-US" sz="1500" dirty="0"/>
          </a:p>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elles restent physiquement plausibles</a:t>
            </a:r>
            <a:endParaRPr lang="en-US" sz="1500" dirty="0"/>
          </a:p>
          <a:p>
            <a:pPr marL="228600" indent="-228600">
              <a:lnSpc>
                <a:spcPct val="115000"/>
              </a:lnSpc>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elles n'ont donc pas été supprimées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600" b="1" dirty="0">
                <a:solidFill>
                  <a:srgbClr val="0F3D28"/>
                </a:solidFill>
                <a:latin typeface="Cambria" pitchFamily="34" charset="0"/>
                <a:ea typeface="Cambria" pitchFamily="34" charset="-122"/>
                <a:cs typeface="Cambria" pitchFamily="34" charset="-120"/>
              </a:rPr>
              <a:t>09</a:t>
            </a:r>
            <a:endParaRPr lang="en-US" sz="26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Visualisations</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Représentation graphique des distributions, tendances et relations entre variables.</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Présenté par : </a:t>
            </a:r>
            <a:r>
              <a:rPr lang="en-US" sz="1500" i="1" dirty="0">
                <a:solidFill>
                  <a:srgbClr val="CFEFDD"/>
                </a:solidFill>
                <a:latin typeface="Calibri" pitchFamily="34" charset="0"/>
                <a:ea typeface="Calibri" pitchFamily="34" charset="-122"/>
                <a:cs typeface="Calibri" pitchFamily="34" charset="-120"/>
              </a:rPr>
              <a:t>GBEUNEYELLA Valentin</a:t>
            </a:r>
            <a:endParaRPr lang="en-US" sz="1500" dirty="0"/>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09</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chart_bar.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Distribution des variables météorologiques</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pic>
        <p:nvPicPr>
          <p:cNvPr id="8" name="Image 1" descr="D:\SIGUI\ProjetFinal\pptx_assets\fig_distribution.png"/>
          <p:cNvPicPr>
            <a:picLocks noChangeAspect="1"/>
          </p:cNvPicPr>
          <p:nvPr/>
        </p:nvPicPr>
        <p:blipFill>
          <a:blip r:embed="rId4"/>
          <a:stretch>
            <a:fillRect/>
          </a:stretch>
        </p:blipFill>
        <p:spPr>
          <a:xfrm>
            <a:off x="2090411" y="1691640"/>
            <a:ext cx="8010873" cy="448056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09</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chart_line.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Évolution de la température moyenne mensuelle</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pic>
        <p:nvPicPr>
          <p:cNvPr id="8" name="Image 1" descr="D:\SIGUI\ProjetFinal\pptx_assets\fig_evolution_mensuelle.png"/>
          <p:cNvPicPr>
            <a:picLocks noChangeAspect="1"/>
          </p:cNvPicPr>
          <p:nvPr/>
        </p:nvPicPr>
        <p:blipFill>
          <a:blip r:embed="rId4"/>
          <a:stretch>
            <a:fillRect/>
          </a:stretch>
        </p:blipFill>
        <p:spPr>
          <a:xfrm>
            <a:off x="1066648" y="1920240"/>
            <a:ext cx="10058400" cy="34849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09</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chart_area.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Température et humidité selon la saison</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pic>
        <p:nvPicPr>
          <p:cNvPr id="8" name="Image 1" descr="D:\SIGUI\ProjetFinal\pptx_assets\fig_temp_humidite.png"/>
          <p:cNvPicPr>
            <a:picLocks noChangeAspect="1"/>
          </p:cNvPicPr>
          <p:nvPr/>
        </p:nvPicPr>
        <p:blipFill>
          <a:blip r:embed="rId4"/>
          <a:stretch>
            <a:fillRect/>
          </a:stretch>
        </p:blipFill>
        <p:spPr>
          <a:xfrm>
            <a:off x="2552696" y="1691640"/>
            <a:ext cx="7086304" cy="4572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600" b="1" dirty="0">
                <a:solidFill>
                  <a:srgbClr val="0F3D28"/>
                </a:solidFill>
                <a:latin typeface="Cambria" pitchFamily="34" charset="0"/>
                <a:ea typeface="Cambria" pitchFamily="34" charset="-122"/>
                <a:cs typeface="Cambria" pitchFamily="34" charset="-120"/>
              </a:rPr>
              <a:t>10</a:t>
            </a:r>
            <a:endParaRPr lang="en-US" sz="26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Tableau de bord Streamlit</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Présentation du tableau de bord interactif développé pour restituer les résultats de l'analyse.</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Présenté par : </a:t>
            </a:r>
            <a:r>
              <a:rPr lang="en-US" sz="1500" i="1" dirty="0">
                <a:solidFill>
                  <a:srgbClr val="CFEFDD"/>
                </a:solidFill>
                <a:latin typeface="Calibri" pitchFamily="34" charset="0"/>
                <a:ea typeface="Calibri" pitchFamily="34" charset="-122"/>
                <a:cs typeface="Calibri" pitchFamily="34" charset="-120"/>
              </a:rPr>
              <a:t>Fatou NIANG</a:t>
            </a:r>
            <a:endParaRPr lang="en-US" sz="1500" dirty="0"/>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10</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dashboard.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Tableau de bord interactif Streamlit</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594360"/>
          </a:xfrm>
          <a:prstGeom prst="rect">
            <a:avLst/>
          </a:prstGeom>
          <a:noFill/>
          <a:ln/>
        </p:spPr>
        <p:txBody>
          <a:bodyPr wrap="square" rtlCol="0" anchor="t"/>
          <a:lstStyle/>
          <a:p>
            <a:pPr marL="0" indent="0">
              <a:lnSpc>
                <a:spcPct val="115000"/>
              </a:lnSpc>
              <a:buNone/>
            </a:pPr>
            <a:r>
              <a:rPr lang="en-US" sz="1450" dirty="0">
                <a:solidFill>
                  <a:srgbClr val="1F2937"/>
                </a:solidFill>
                <a:latin typeface="Calibri" pitchFamily="34" charset="0"/>
                <a:ea typeface="Calibri" pitchFamily="34" charset="-122"/>
                <a:cs typeface="Calibri" pitchFamily="34" charset="-120"/>
              </a:rPr>
              <a:t>Un tableau de bord interactif a été développé avec Streamlit pour rendre les résultats accessibles et explorables en temps réel.</a:t>
            </a:r>
            <a:endParaRPr lang="en-US" sz="1450" dirty="0"/>
          </a:p>
        </p:txBody>
      </p:sp>
      <p:sp>
        <p:nvSpPr>
          <p:cNvPr id="9" name="Text 6"/>
          <p:cNvSpPr/>
          <p:nvPr/>
        </p:nvSpPr>
        <p:spPr>
          <a:xfrm>
            <a:off x="457200" y="2194560"/>
            <a:ext cx="3749040" cy="365760"/>
          </a:xfrm>
          <a:prstGeom prst="rect">
            <a:avLst/>
          </a:prstGeom>
          <a:noFill/>
          <a:ln/>
        </p:spPr>
        <p:txBody>
          <a:bodyPr wrap="square" rtlCol="0" anchor="ctr"/>
          <a:lstStyle/>
          <a:p>
            <a:pPr marL="0" indent="0">
              <a:buNone/>
            </a:pPr>
            <a:r>
              <a:rPr lang="en-US" sz="1500" b="1" dirty="0">
                <a:solidFill>
                  <a:srgbClr val="14532D"/>
                </a:solidFill>
                <a:latin typeface="Calibri" pitchFamily="34" charset="0"/>
                <a:ea typeface="Calibri" pitchFamily="34" charset="-122"/>
                <a:cs typeface="Calibri" pitchFamily="34" charset="-120"/>
              </a:rPr>
              <a:t>Indicateurs suivis</a:t>
            </a:r>
            <a:endParaRPr lang="en-US" sz="1500" dirty="0"/>
          </a:p>
        </p:txBody>
      </p:sp>
      <p:sp>
        <p:nvSpPr>
          <p:cNvPr id="10" name="Text 7"/>
          <p:cNvSpPr/>
          <p:nvPr/>
        </p:nvSpPr>
        <p:spPr>
          <a:xfrm>
            <a:off x="457200" y="2606040"/>
            <a:ext cx="3749040" cy="1463040"/>
          </a:xfrm>
          <a:prstGeom prst="rect">
            <a:avLst/>
          </a:prstGeom>
          <a:noFill/>
          <a:ln/>
        </p:spPr>
        <p:txBody>
          <a:bodyPr wrap="square" rtlCol="0" anchor="t"/>
          <a:lstStyle/>
          <a:p>
            <a:pPr marL="228600" indent="-228600">
              <a:lnSpc>
                <a:spcPct val="115000"/>
              </a:lnSpc>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température moyenne</a:t>
            </a:r>
            <a:endParaRPr lang="en-US" sz="1350" dirty="0"/>
          </a:p>
          <a:p>
            <a:pPr marL="228600" indent="-228600">
              <a:lnSpc>
                <a:spcPct val="115000"/>
              </a:lnSpc>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taux d'humidité</a:t>
            </a:r>
            <a:endParaRPr lang="en-US" sz="1350" dirty="0"/>
          </a:p>
          <a:p>
            <a:pPr marL="228600" indent="-228600">
              <a:lnSpc>
                <a:spcPct val="115000"/>
              </a:lnSpc>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nombre total d'observations</a:t>
            </a:r>
            <a:endParaRPr lang="en-US" sz="1350" dirty="0"/>
          </a:p>
        </p:txBody>
      </p:sp>
      <p:sp>
        <p:nvSpPr>
          <p:cNvPr id="11" name="Text 8"/>
          <p:cNvSpPr/>
          <p:nvPr/>
        </p:nvSpPr>
        <p:spPr>
          <a:xfrm>
            <a:off x="4434840" y="2194560"/>
            <a:ext cx="3749040" cy="365760"/>
          </a:xfrm>
          <a:prstGeom prst="rect">
            <a:avLst/>
          </a:prstGeom>
          <a:noFill/>
          <a:ln/>
        </p:spPr>
        <p:txBody>
          <a:bodyPr wrap="square" rtlCol="0" anchor="ctr"/>
          <a:lstStyle/>
          <a:p>
            <a:pPr marL="0" indent="0">
              <a:buNone/>
            </a:pPr>
            <a:r>
              <a:rPr lang="en-US" sz="1500" b="1" dirty="0">
                <a:solidFill>
                  <a:srgbClr val="14532D"/>
                </a:solidFill>
                <a:latin typeface="Calibri" pitchFamily="34" charset="0"/>
                <a:ea typeface="Calibri" pitchFamily="34" charset="-122"/>
                <a:cs typeface="Calibri" pitchFamily="34" charset="-120"/>
              </a:rPr>
              <a:t>Filtres disponibles</a:t>
            </a:r>
            <a:endParaRPr lang="en-US" sz="1500" dirty="0"/>
          </a:p>
        </p:txBody>
      </p:sp>
      <p:sp>
        <p:nvSpPr>
          <p:cNvPr id="12" name="Text 9"/>
          <p:cNvSpPr/>
          <p:nvPr/>
        </p:nvSpPr>
        <p:spPr>
          <a:xfrm>
            <a:off x="4434840" y="2606040"/>
            <a:ext cx="3749040" cy="1463040"/>
          </a:xfrm>
          <a:prstGeom prst="rect">
            <a:avLst/>
          </a:prstGeom>
          <a:noFill/>
          <a:ln/>
        </p:spPr>
        <p:txBody>
          <a:bodyPr wrap="square" rtlCol="0" anchor="t"/>
          <a:lstStyle/>
          <a:p>
            <a:pPr marL="228600" indent="-228600">
              <a:lnSpc>
                <a:spcPct val="115000"/>
              </a:lnSpc>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type de précipitations</a:t>
            </a:r>
            <a:endParaRPr lang="en-US" sz="1350" dirty="0"/>
          </a:p>
          <a:p>
            <a:pPr marL="228600" indent="-228600">
              <a:lnSpc>
                <a:spcPct val="115000"/>
              </a:lnSpc>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période (plage de dates)</a:t>
            </a:r>
            <a:endParaRPr lang="en-US" sz="1350" dirty="0"/>
          </a:p>
        </p:txBody>
      </p:sp>
      <p:sp>
        <p:nvSpPr>
          <p:cNvPr id="13" name="Text 10"/>
          <p:cNvSpPr/>
          <p:nvPr/>
        </p:nvSpPr>
        <p:spPr>
          <a:xfrm>
            <a:off x="8412480" y="2194560"/>
            <a:ext cx="3291840" cy="365760"/>
          </a:xfrm>
          <a:prstGeom prst="rect">
            <a:avLst/>
          </a:prstGeom>
          <a:noFill/>
          <a:ln/>
        </p:spPr>
        <p:txBody>
          <a:bodyPr wrap="square" rtlCol="0" anchor="ctr"/>
          <a:lstStyle/>
          <a:p>
            <a:pPr marL="0" indent="0">
              <a:buNone/>
            </a:pPr>
            <a:r>
              <a:rPr lang="en-US" sz="1500" b="1" dirty="0">
                <a:solidFill>
                  <a:srgbClr val="14532D"/>
                </a:solidFill>
                <a:latin typeface="Calibri" pitchFamily="34" charset="0"/>
                <a:ea typeface="Calibri" pitchFamily="34" charset="-122"/>
                <a:cs typeface="Calibri" pitchFamily="34" charset="-120"/>
              </a:rPr>
              <a:t>Visualisations</a:t>
            </a:r>
            <a:endParaRPr lang="en-US" sz="1500" dirty="0"/>
          </a:p>
        </p:txBody>
      </p:sp>
      <p:sp>
        <p:nvSpPr>
          <p:cNvPr id="14" name="Text 11"/>
          <p:cNvSpPr/>
          <p:nvPr/>
        </p:nvSpPr>
        <p:spPr>
          <a:xfrm>
            <a:off x="8412480" y="2606040"/>
            <a:ext cx="3291840" cy="1463040"/>
          </a:xfrm>
          <a:prstGeom prst="rect">
            <a:avLst/>
          </a:prstGeom>
          <a:noFill/>
          <a:ln/>
        </p:spPr>
        <p:txBody>
          <a:bodyPr wrap="square" rtlCol="0" anchor="t"/>
          <a:lstStyle/>
          <a:p>
            <a:pPr marL="228600" indent="-228600">
              <a:lnSpc>
                <a:spcPct val="115000"/>
              </a:lnSpc>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évolution journalière de la température</a:t>
            </a:r>
            <a:endParaRPr lang="en-US" sz="1350" dirty="0"/>
          </a:p>
          <a:p>
            <a:pPr marL="228600" indent="-228600">
              <a:lnSpc>
                <a:spcPct val="115000"/>
              </a:lnSpc>
              <a:spcAft>
                <a:spcPts val="1000"/>
              </a:spcAft>
              <a:buSzPct val="100000"/>
              <a:buChar char="•"/>
            </a:pPr>
            <a:r>
              <a:rPr lang="en-US" sz="1350" dirty="0">
                <a:solidFill>
                  <a:srgbClr val="1F2937"/>
                </a:solidFill>
                <a:latin typeface="Calibri" pitchFamily="34" charset="0"/>
                <a:ea typeface="Calibri" pitchFamily="34" charset="-122"/>
                <a:cs typeface="Calibri" pitchFamily="34" charset="-120"/>
              </a:rPr>
              <a:t>distribution du taux d'humidité</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10</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dashboard.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Tableau de bord Streamlit</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pic>
        <p:nvPicPr>
          <p:cNvPr id="8" name="Image 1" descr="D:\SIGUI\ProjetFinal\pptx_assets\fig_streamlit_dashboard.jpeg"/>
          <p:cNvPicPr>
            <a:picLocks noChangeAspect="1"/>
          </p:cNvPicPr>
          <p:nvPr/>
        </p:nvPicPr>
        <p:blipFill>
          <a:blip r:embed="rId4"/>
          <a:stretch>
            <a:fillRect/>
          </a:stretch>
        </p:blipFill>
        <p:spPr>
          <a:xfrm>
            <a:off x="1607409" y="1691640"/>
            <a:ext cx="8976877" cy="429768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600" b="1" dirty="0">
                <a:solidFill>
                  <a:srgbClr val="0F3D28"/>
                </a:solidFill>
                <a:latin typeface="Cambria" pitchFamily="34" charset="0"/>
                <a:ea typeface="Cambria" pitchFamily="34" charset="-122"/>
                <a:cs typeface="Cambria" pitchFamily="34" charset="-120"/>
              </a:rPr>
              <a:t>11</a:t>
            </a:r>
            <a:endParaRPr lang="en-US" sz="26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Modélisation prédictive</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Construction, évaluation et interprétation critique d'un modèle de prédiction de la température.</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Présenté par : </a:t>
            </a:r>
            <a:r>
              <a:rPr lang="en-US" sz="1500" i="1" dirty="0">
                <a:solidFill>
                  <a:srgbClr val="CFEFDD"/>
                </a:solidFill>
                <a:latin typeface="Calibri" pitchFamily="34" charset="0"/>
                <a:ea typeface="Calibri" pitchFamily="34" charset="-122"/>
                <a:cs typeface="Calibri" pitchFamily="34" charset="-120"/>
              </a:rPr>
              <a:t>Fatou NIANG</a:t>
            </a:r>
            <a:endParaRPr lang="en-US" sz="1500" dirty="0"/>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11</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brain.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Construction d'un modèle</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371600"/>
            <a:ext cx="11277295" cy="457200"/>
          </a:xfrm>
          <a:prstGeom prst="rect">
            <a:avLst/>
          </a:prstGeom>
          <a:noFill/>
          <a:ln/>
        </p:spPr>
        <p:txBody>
          <a:bodyPr wrap="square" rtlCol="0" anchor="t"/>
          <a:lstStyle/>
          <a:p>
            <a:pPr marL="0" indent="0">
              <a:lnSpc>
                <a:spcPct val="115000"/>
              </a:lnSpc>
              <a:buNone/>
            </a:pPr>
            <a:r>
              <a:rPr lang="en-US" sz="1450" dirty="0">
                <a:solidFill>
                  <a:srgbClr val="1F2937"/>
                </a:solidFill>
                <a:latin typeface="Calibri" pitchFamily="34" charset="0"/>
                <a:ea typeface="Calibri" pitchFamily="34" charset="-122"/>
                <a:cs typeface="Calibri" pitchFamily="34" charset="-120"/>
              </a:rPr>
              <a:t>Un modèle de prédiction de la température a été développé à partir de variables physiques et temporelles.</a:t>
            </a:r>
            <a:endParaRPr lang="en-US" sz="1450" dirty="0"/>
          </a:p>
        </p:txBody>
      </p:sp>
      <p:sp>
        <p:nvSpPr>
          <p:cNvPr id="9" name="Shape 6"/>
          <p:cNvSpPr/>
          <p:nvPr/>
        </p:nvSpPr>
        <p:spPr>
          <a:xfrm>
            <a:off x="457200" y="1920240"/>
            <a:ext cx="3576218" cy="4114800"/>
          </a:xfrm>
          <a:prstGeom prst="roundRect">
            <a:avLst>
              <a:gd name="adj" fmla="val 2557"/>
            </a:avLst>
          </a:prstGeom>
          <a:solidFill>
            <a:srgbClr val="F3FBF6"/>
          </a:solidFill>
          <a:ln/>
        </p:spPr>
        <p:txBody>
          <a:bodyPr/>
          <a:lstStyle/>
          <a:p>
            <a:endParaRPr lang="fr-FR"/>
          </a:p>
        </p:txBody>
      </p:sp>
      <p:sp>
        <p:nvSpPr>
          <p:cNvPr id="10" name="Shape 7"/>
          <p:cNvSpPr/>
          <p:nvPr/>
        </p:nvSpPr>
        <p:spPr>
          <a:xfrm>
            <a:off x="1934413" y="2176272"/>
            <a:ext cx="621792" cy="621792"/>
          </a:xfrm>
          <a:prstGeom prst="ellipse">
            <a:avLst/>
          </a:prstGeom>
          <a:solidFill>
            <a:srgbClr val="22C55E"/>
          </a:solidFill>
          <a:ln/>
        </p:spPr>
        <p:txBody>
          <a:bodyPr/>
          <a:lstStyle/>
          <a:p>
            <a:endParaRPr lang="fr-FR"/>
          </a:p>
        </p:txBody>
      </p:sp>
      <p:pic>
        <p:nvPicPr>
          <p:cNvPr id="11" name="Image 1" descr="D:\SIGUI\ProjetFinal\pptx_icons\chart_area.png"/>
          <p:cNvPicPr>
            <a:picLocks noChangeAspect="1"/>
          </p:cNvPicPr>
          <p:nvPr/>
        </p:nvPicPr>
        <p:blipFill>
          <a:blip r:embed="rId4"/>
          <a:stretch>
            <a:fillRect/>
          </a:stretch>
        </p:blipFill>
        <p:spPr>
          <a:xfrm>
            <a:off x="2099005" y="2340864"/>
            <a:ext cx="292608" cy="292608"/>
          </a:xfrm>
          <a:prstGeom prst="rect">
            <a:avLst/>
          </a:prstGeom>
        </p:spPr>
      </p:pic>
      <p:sp>
        <p:nvSpPr>
          <p:cNvPr id="12" name="Text 8"/>
          <p:cNvSpPr/>
          <p:nvPr/>
        </p:nvSpPr>
        <p:spPr>
          <a:xfrm>
            <a:off x="621792" y="2907792"/>
            <a:ext cx="3247034" cy="502920"/>
          </a:xfrm>
          <a:prstGeom prst="rect">
            <a:avLst/>
          </a:prstGeom>
          <a:noFill/>
          <a:ln/>
        </p:spPr>
        <p:txBody>
          <a:bodyPr wrap="square" rtlCol="0" anchor="t"/>
          <a:lstStyle/>
          <a:p>
            <a:pPr marL="0" indent="0" algn="ctr">
              <a:buNone/>
            </a:pPr>
            <a:r>
              <a:rPr lang="en-US" sz="1400" b="1" dirty="0">
                <a:solidFill>
                  <a:srgbClr val="14532D"/>
                </a:solidFill>
                <a:latin typeface="Calibri" pitchFamily="34" charset="0"/>
                <a:ea typeface="Calibri" pitchFamily="34" charset="-122"/>
                <a:cs typeface="Calibri" pitchFamily="34" charset="-120"/>
              </a:rPr>
              <a:t>Variables physiques</a:t>
            </a:r>
            <a:endParaRPr lang="en-US" sz="1400" dirty="0"/>
          </a:p>
        </p:txBody>
      </p:sp>
      <p:sp>
        <p:nvSpPr>
          <p:cNvPr id="13" name="Text 9"/>
          <p:cNvSpPr/>
          <p:nvPr/>
        </p:nvSpPr>
        <p:spPr>
          <a:xfrm>
            <a:off x="658368" y="3456432"/>
            <a:ext cx="3173882" cy="2468880"/>
          </a:xfrm>
          <a:prstGeom prst="rect">
            <a:avLst/>
          </a:prstGeom>
          <a:noFill/>
          <a:ln/>
        </p:spPr>
        <p:txBody>
          <a:bodyPr wrap="square" rtlCol="0" anchor="t"/>
          <a:lstStyle/>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Humidité</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Vitesse du vent</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Pression atmosphérique</a:t>
            </a:r>
            <a:endParaRPr lang="en-US" sz="1150" dirty="0"/>
          </a:p>
        </p:txBody>
      </p:sp>
      <p:sp>
        <p:nvSpPr>
          <p:cNvPr id="14" name="Shape 10"/>
          <p:cNvSpPr/>
          <p:nvPr/>
        </p:nvSpPr>
        <p:spPr>
          <a:xfrm>
            <a:off x="4307738" y="1920240"/>
            <a:ext cx="3576218" cy="4114800"/>
          </a:xfrm>
          <a:prstGeom prst="roundRect">
            <a:avLst>
              <a:gd name="adj" fmla="val 2557"/>
            </a:avLst>
          </a:prstGeom>
          <a:solidFill>
            <a:srgbClr val="F3FBF6"/>
          </a:solidFill>
          <a:ln/>
        </p:spPr>
        <p:txBody>
          <a:bodyPr/>
          <a:lstStyle/>
          <a:p>
            <a:endParaRPr lang="fr-FR"/>
          </a:p>
        </p:txBody>
      </p:sp>
      <p:sp>
        <p:nvSpPr>
          <p:cNvPr id="15" name="Shape 11"/>
          <p:cNvSpPr/>
          <p:nvPr/>
        </p:nvSpPr>
        <p:spPr>
          <a:xfrm>
            <a:off x="5784952" y="2176272"/>
            <a:ext cx="621792" cy="621792"/>
          </a:xfrm>
          <a:prstGeom prst="ellipse">
            <a:avLst/>
          </a:prstGeom>
          <a:solidFill>
            <a:srgbClr val="22C55E"/>
          </a:solidFill>
          <a:ln/>
        </p:spPr>
        <p:txBody>
          <a:bodyPr/>
          <a:lstStyle/>
          <a:p>
            <a:endParaRPr lang="fr-FR"/>
          </a:p>
        </p:txBody>
      </p:sp>
      <p:pic>
        <p:nvPicPr>
          <p:cNvPr id="16" name="Image 2" descr="D:\SIGUI\ProjetFinal\pptx_icons\route.png"/>
          <p:cNvPicPr>
            <a:picLocks noChangeAspect="1"/>
          </p:cNvPicPr>
          <p:nvPr/>
        </p:nvPicPr>
        <p:blipFill>
          <a:blip r:embed="rId5"/>
          <a:stretch>
            <a:fillRect/>
          </a:stretch>
        </p:blipFill>
        <p:spPr>
          <a:xfrm>
            <a:off x="5949544" y="2340864"/>
            <a:ext cx="292608" cy="292608"/>
          </a:xfrm>
          <a:prstGeom prst="rect">
            <a:avLst/>
          </a:prstGeom>
        </p:spPr>
      </p:pic>
      <p:sp>
        <p:nvSpPr>
          <p:cNvPr id="17" name="Text 12"/>
          <p:cNvSpPr/>
          <p:nvPr/>
        </p:nvSpPr>
        <p:spPr>
          <a:xfrm>
            <a:off x="4472330" y="2907792"/>
            <a:ext cx="3247034" cy="502920"/>
          </a:xfrm>
          <a:prstGeom prst="rect">
            <a:avLst/>
          </a:prstGeom>
          <a:noFill/>
          <a:ln/>
        </p:spPr>
        <p:txBody>
          <a:bodyPr wrap="square" rtlCol="0" anchor="t"/>
          <a:lstStyle/>
          <a:p>
            <a:pPr marL="0" indent="0" algn="ctr">
              <a:buNone/>
            </a:pPr>
            <a:r>
              <a:rPr lang="en-US" sz="1400" b="1" dirty="0">
                <a:solidFill>
                  <a:srgbClr val="14532D"/>
                </a:solidFill>
                <a:latin typeface="Calibri" pitchFamily="34" charset="0"/>
                <a:ea typeface="Calibri" pitchFamily="34" charset="-122"/>
                <a:cs typeface="Calibri" pitchFamily="34" charset="-120"/>
              </a:rPr>
              <a:t>Variables cycliques</a:t>
            </a:r>
            <a:endParaRPr lang="en-US" sz="1400" dirty="0"/>
          </a:p>
        </p:txBody>
      </p:sp>
      <p:sp>
        <p:nvSpPr>
          <p:cNvPr id="18" name="Text 13"/>
          <p:cNvSpPr/>
          <p:nvPr/>
        </p:nvSpPr>
        <p:spPr>
          <a:xfrm>
            <a:off x="4508906" y="3456432"/>
            <a:ext cx="3173882" cy="2468880"/>
          </a:xfrm>
          <a:prstGeom prst="rect">
            <a:avLst/>
          </a:prstGeom>
          <a:noFill/>
          <a:ln/>
        </p:spPr>
        <p:txBody>
          <a:bodyPr wrap="square" rtlCol="0" anchor="t"/>
          <a:lstStyle/>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Heure et mois encodés en sinus/cosinus</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Évite la rupture 23h→0h ou déc.→janv.</a:t>
            </a:r>
            <a:endParaRPr lang="en-US" sz="1150" dirty="0"/>
          </a:p>
        </p:txBody>
      </p:sp>
      <p:sp>
        <p:nvSpPr>
          <p:cNvPr id="19" name="Shape 14"/>
          <p:cNvSpPr/>
          <p:nvPr/>
        </p:nvSpPr>
        <p:spPr>
          <a:xfrm>
            <a:off x="8158277" y="1920240"/>
            <a:ext cx="3576218" cy="4114800"/>
          </a:xfrm>
          <a:prstGeom prst="roundRect">
            <a:avLst>
              <a:gd name="adj" fmla="val 2557"/>
            </a:avLst>
          </a:prstGeom>
          <a:solidFill>
            <a:srgbClr val="F3FBF6"/>
          </a:solidFill>
          <a:ln/>
        </p:spPr>
        <p:txBody>
          <a:bodyPr/>
          <a:lstStyle/>
          <a:p>
            <a:endParaRPr lang="fr-FR"/>
          </a:p>
        </p:txBody>
      </p:sp>
      <p:sp>
        <p:nvSpPr>
          <p:cNvPr id="20" name="Shape 15"/>
          <p:cNvSpPr/>
          <p:nvPr/>
        </p:nvSpPr>
        <p:spPr>
          <a:xfrm>
            <a:off x="9635490" y="2176272"/>
            <a:ext cx="621792" cy="621792"/>
          </a:xfrm>
          <a:prstGeom prst="ellipse">
            <a:avLst/>
          </a:prstGeom>
          <a:solidFill>
            <a:srgbClr val="22C55E"/>
          </a:solidFill>
          <a:ln/>
        </p:spPr>
        <p:txBody>
          <a:bodyPr/>
          <a:lstStyle/>
          <a:p>
            <a:endParaRPr lang="fr-FR"/>
          </a:p>
        </p:txBody>
      </p:sp>
      <p:pic>
        <p:nvPicPr>
          <p:cNvPr id="21" name="Image 3" descr="D:\SIGUI\ProjetFinal\pptx_icons\chart_line.png"/>
          <p:cNvPicPr>
            <a:picLocks noChangeAspect="1"/>
          </p:cNvPicPr>
          <p:nvPr/>
        </p:nvPicPr>
        <p:blipFill>
          <a:blip r:embed="rId6"/>
          <a:stretch>
            <a:fillRect/>
          </a:stretch>
        </p:blipFill>
        <p:spPr>
          <a:xfrm>
            <a:off x="9800082" y="2340864"/>
            <a:ext cx="292608" cy="292608"/>
          </a:xfrm>
          <a:prstGeom prst="rect">
            <a:avLst/>
          </a:prstGeom>
        </p:spPr>
      </p:pic>
      <p:sp>
        <p:nvSpPr>
          <p:cNvPr id="22" name="Text 16"/>
          <p:cNvSpPr/>
          <p:nvPr/>
        </p:nvSpPr>
        <p:spPr>
          <a:xfrm>
            <a:off x="8322869" y="2907792"/>
            <a:ext cx="3247034" cy="502920"/>
          </a:xfrm>
          <a:prstGeom prst="rect">
            <a:avLst/>
          </a:prstGeom>
          <a:noFill/>
          <a:ln/>
        </p:spPr>
        <p:txBody>
          <a:bodyPr wrap="square" rtlCol="0" anchor="t"/>
          <a:lstStyle/>
          <a:p>
            <a:pPr marL="0" indent="0" algn="ctr">
              <a:buNone/>
            </a:pPr>
            <a:r>
              <a:rPr lang="en-US" sz="1400" b="1" dirty="0">
                <a:solidFill>
                  <a:srgbClr val="14532D"/>
                </a:solidFill>
                <a:latin typeface="Calibri" pitchFamily="34" charset="0"/>
                <a:ea typeface="Calibri" pitchFamily="34" charset="-122"/>
                <a:cs typeface="Calibri" pitchFamily="34" charset="-120"/>
              </a:rPr>
              <a:t>Variables retardées</a:t>
            </a:r>
            <a:endParaRPr lang="en-US" sz="1400" dirty="0"/>
          </a:p>
        </p:txBody>
      </p:sp>
      <p:sp>
        <p:nvSpPr>
          <p:cNvPr id="23" name="Text 17"/>
          <p:cNvSpPr/>
          <p:nvPr/>
        </p:nvSpPr>
        <p:spPr>
          <a:xfrm>
            <a:off x="8359445" y="3456432"/>
            <a:ext cx="3173882" cy="2468880"/>
          </a:xfrm>
          <a:prstGeom prst="rect">
            <a:avLst/>
          </a:prstGeom>
          <a:noFill/>
          <a:ln/>
        </p:spPr>
        <p:txBody>
          <a:bodyPr wrap="square" rtlCol="0" anchor="t"/>
          <a:lstStyle/>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Températures des heures précédentes</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Capte l'inertie thermique à court terme</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11</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layers.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Préparation des données pour le modèle</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45720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Les données ont été séparées chronologiquement (et non aléatoirement) en trois ensembles :</a:t>
            </a:r>
            <a:endParaRPr lang="en-US" sz="15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5943600" cy="2011680"/>
        </p:xfrm>
        <a:graphic>
          <a:graphicData uri="http://schemas.openxmlformats.org/drawingml/2006/table">
            <a:tbl>
              <a:tblPr/>
              <a:tblGrid>
                <a:gridCol w="32004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502920">
                <a:tc>
                  <a:txBody>
                    <a:bodyPr/>
                    <a:lstStyle/>
                    <a:p>
                      <a:pPr marL="0" indent="0" algn="l">
                        <a:buNone/>
                      </a:pPr>
                      <a:r>
                        <a:rPr lang="en-US" sz="1500" b="1" dirty="0">
                          <a:solidFill>
                            <a:srgbClr val="FFFFFF"/>
                          </a:solidFill>
                        </a:rPr>
                        <a:t>Ensemble</a:t>
                      </a:r>
                      <a:endParaRPr lang="en-US" sz="15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500" b="1" dirty="0">
                          <a:solidFill>
                            <a:srgbClr val="FFFFFF"/>
                          </a:solidFill>
                        </a:rPr>
                        <a:t>Proportion</a:t>
                      </a:r>
                      <a:endParaRPr lang="en-US" sz="15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502920">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Entraînement</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70 %</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Validation</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15 %</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r h="502920">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15 %</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6"/>
          <p:cNvSpPr/>
          <p:nvPr/>
        </p:nvSpPr>
        <p:spPr>
          <a:xfrm>
            <a:off x="457200" y="3931920"/>
            <a:ext cx="11277295" cy="1051560"/>
          </a:xfrm>
          <a:prstGeom prst="roundRect">
            <a:avLst>
              <a:gd name="adj" fmla="val 5217"/>
            </a:avLst>
          </a:prstGeom>
          <a:solidFill>
            <a:srgbClr val="E3F5EA"/>
          </a:solidFill>
          <a:ln/>
        </p:spPr>
        <p:txBody>
          <a:bodyPr/>
          <a:lstStyle/>
          <a:p>
            <a:endParaRPr lang="fr-FR"/>
          </a:p>
        </p:txBody>
      </p:sp>
      <p:sp>
        <p:nvSpPr>
          <p:cNvPr id="11" name="Text 7"/>
          <p:cNvSpPr/>
          <p:nvPr/>
        </p:nvSpPr>
        <p:spPr>
          <a:xfrm>
            <a:off x="640080" y="3931920"/>
            <a:ext cx="10911535" cy="1051560"/>
          </a:xfrm>
          <a:prstGeom prst="rect">
            <a:avLst/>
          </a:prstGeom>
          <a:noFill/>
          <a:ln/>
        </p:spPr>
        <p:txBody>
          <a:bodyPr wrap="square" rtlCol="0" anchor="ctr"/>
          <a:lstStyle/>
          <a:p>
            <a:pPr marL="0" indent="0">
              <a:buNone/>
            </a:pPr>
            <a:r>
              <a:rPr lang="en-US" sz="1300" b="1" dirty="0">
                <a:solidFill>
                  <a:srgbClr val="14532D"/>
                </a:solidFill>
                <a:latin typeface="Calibri" pitchFamily="34" charset="0"/>
                <a:ea typeface="Calibri" pitchFamily="34" charset="-122"/>
                <a:cs typeface="Calibri" pitchFamily="34" charset="-120"/>
              </a:rPr>
              <a:t>Pourquoi un découpage chronologique ? </a:t>
            </a:r>
            <a:endParaRPr lang="en-US" sz="1300" dirty="0"/>
          </a:p>
          <a:p>
            <a:pPr marL="0" indent="0">
              <a:buNone/>
            </a:pPr>
            <a:r>
              <a:rPr lang="en-US" sz="1300" dirty="0">
                <a:solidFill>
                  <a:srgbClr val="14532D"/>
                </a:solidFill>
                <a:latin typeface="Calibri" pitchFamily="34" charset="0"/>
                <a:ea typeface="Calibri" pitchFamily="34" charset="-122"/>
                <a:cs typeface="Calibri" pitchFamily="34" charset="-120"/>
              </a:rPr>
              <a:t>Un découpage aléatoire exposerait le modèle à des données futures via les variables retardées (fuite de données / data leakage), ce qui gonflerait artificiellement les performances. Le découpage chronologique reproduit une situation réaliste de prévision.</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11</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target.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Résultats du modèle</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73152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Un modèle de forêt aléatoire (Random Forest) a été entraîné pour estimer la température à partir des variables explicatives.</a:t>
            </a:r>
            <a:endParaRPr lang="en-US" sz="1500" dirty="0"/>
          </a:p>
        </p:txBody>
      </p:sp>
      <p:sp>
        <p:nvSpPr>
          <p:cNvPr id="9" name="Text 6"/>
          <p:cNvSpPr/>
          <p:nvPr/>
        </p:nvSpPr>
        <p:spPr>
          <a:xfrm>
            <a:off x="457200" y="2286000"/>
            <a:ext cx="11277295" cy="365760"/>
          </a:xfrm>
          <a:prstGeom prst="rect">
            <a:avLst/>
          </a:prstGeom>
          <a:noFill/>
          <a:ln/>
        </p:spPr>
        <p:txBody>
          <a:bodyPr wrap="square" rtlCol="0" anchor="t"/>
          <a:lstStyle/>
          <a:p>
            <a:pPr marL="0" indent="0">
              <a:lnSpc>
                <a:spcPct val="115000"/>
              </a:lnSpc>
              <a:buNone/>
            </a:pPr>
            <a:r>
              <a:rPr lang="en-US" sz="1500" dirty="0">
                <a:solidFill>
                  <a:srgbClr val="1F2937"/>
                </a:solidFill>
                <a:latin typeface="Calibri" pitchFamily="34" charset="0"/>
                <a:ea typeface="Calibri" pitchFamily="34" charset="-122"/>
                <a:cs typeface="Calibri" pitchFamily="34" charset="-120"/>
              </a:rPr>
              <a:t>Résultats obtenus :</a:t>
            </a:r>
            <a:endParaRPr lang="en-US" sz="15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6400800" cy="1645920"/>
        </p:xfrm>
        <a:graphic>
          <a:graphicData uri="http://schemas.openxmlformats.org/drawingml/2006/table">
            <a:tbl>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548640">
                <a:tc>
                  <a:txBody>
                    <a:bodyPr/>
                    <a:lstStyle/>
                    <a:p>
                      <a:pPr marL="0" indent="0" algn="l">
                        <a:buNone/>
                      </a:pPr>
                      <a:r>
                        <a:rPr lang="en-US" sz="1500" b="1" dirty="0">
                          <a:solidFill>
                            <a:srgbClr val="FFFFFF"/>
                          </a:solidFill>
                        </a:rPr>
                        <a:t>Indicateur</a:t>
                      </a:r>
                      <a:endParaRPr lang="en-US" sz="15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500" b="1" dirty="0">
                          <a:solidFill>
                            <a:srgbClr val="FFFFFF"/>
                          </a:solidFill>
                        </a:rPr>
                        <a:t>Valeur</a:t>
                      </a:r>
                      <a:endParaRPr lang="en-US" sz="150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548640">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Erreur moyenne absolue (MAE)</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0,56 °C</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Coefficient de détermination (R²)</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500" dirty="0">
                          <a:solidFill>
                            <a:srgbClr val="1F2937"/>
                          </a:solidFill>
                          <a:latin typeface="Calibri" pitchFamily="34" charset="0"/>
                          <a:ea typeface="Calibri" pitchFamily="34" charset="-122"/>
                          <a:cs typeface="Calibri" pitchFamily="34" charset="-120"/>
                        </a:rPr>
                        <a:t>0,993</a:t>
                      </a:r>
                      <a:endParaRPr lang="en-US" sz="150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bl>
          </a:graphicData>
        </a:graphic>
      </p:graphicFrame>
      <p:sp>
        <p:nvSpPr>
          <p:cNvPr id="11" name="Text 7"/>
          <p:cNvSpPr/>
          <p:nvPr/>
        </p:nvSpPr>
        <p:spPr>
          <a:xfrm>
            <a:off x="457200" y="4160520"/>
            <a:ext cx="11277295" cy="822960"/>
          </a:xfrm>
          <a:prstGeom prst="rect">
            <a:avLst/>
          </a:prstGeom>
          <a:noFill/>
          <a:ln/>
        </p:spPr>
        <p:txBody>
          <a:bodyPr wrap="square" rtlCol="0" anchor="t"/>
          <a:lstStyle/>
          <a:p>
            <a:pPr marL="0" indent="0">
              <a:lnSpc>
                <a:spcPct val="115000"/>
              </a:lnSpc>
              <a:buNone/>
            </a:pPr>
            <a:r>
              <a:rPr lang="en-US" sz="1400" dirty="0">
                <a:solidFill>
                  <a:srgbClr val="1F2937"/>
                </a:solidFill>
                <a:latin typeface="Calibri" pitchFamily="34" charset="0"/>
                <a:ea typeface="Calibri" pitchFamily="34" charset="-122"/>
                <a:cs typeface="Calibri" pitchFamily="34" charset="-120"/>
              </a:rPr>
              <a:t>La comparaison entre températures réelles et prédites montre une bonne adéquation avec les variations saisonnières et journalières.</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925373"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925373"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PARTIE 11</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balance.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Interprétation &amp; limites</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325880"/>
            <a:ext cx="11277295" cy="457200"/>
          </a:xfrm>
          <a:prstGeom prst="rect">
            <a:avLst/>
          </a:prstGeom>
          <a:noFill/>
          <a:ln/>
        </p:spPr>
        <p:txBody>
          <a:bodyPr wrap="square" rtlCol="0" anchor="t"/>
          <a:lstStyle/>
          <a:p>
            <a:pPr marL="0" indent="0">
              <a:lnSpc>
                <a:spcPct val="115000"/>
              </a:lnSpc>
              <a:buNone/>
            </a:pPr>
            <a:r>
              <a:rPr lang="en-US" sz="1450" dirty="0">
                <a:solidFill>
                  <a:srgbClr val="1F2937"/>
                </a:solidFill>
                <a:latin typeface="Calibri" pitchFamily="34" charset="0"/>
                <a:ea typeface="Calibri" pitchFamily="34" charset="-122"/>
                <a:cs typeface="Calibri" pitchFamily="34" charset="-120"/>
              </a:rPr>
              <a:t>Un R² de 0,993 est excellent  mais il appelle une lecture rigoureuse plutôt qu'une lecture triomphale.</a:t>
            </a:r>
            <a:endParaRPr lang="en-US" sz="1450" dirty="0"/>
          </a:p>
        </p:txBody>
      </p:sp>
      <p:sp>
        <p:nvSpPr>
          <p:cNvPr id="9" name="Shape 6"/>
          <p:cNvSpPr/>
          <p:nvPr/>
        </p:nvSpPr>
        <p:spPr>
          <a:xfrm>
            <a:off x="457200" y="1874520"/>
            <a:ext cx="3576218" cy="4206240"/>
          </a:xfrm>
          <a:prstGeom prst="roundRect">
            <a:avLst>
              <a:gd name="adj" fmla="val 2557"/>
            </a:avLst>
          </a:prstGeom>
          <a:solidFill>
            <a:srgbClr val="F3FBF6"/>
          </a:solidFill>
          <a:ln/>
        </p:spPr>
        <p:txBody>
          <a:bodyPr/>
          <a:lstStyle/>
          <a:p>
            <a:endParaRPr lang="fr-FR"/>
          </a:p>
        </p:txBody>
      </p:sp>
      <p:sp>
        <p:nvSpPr>
          <p:cNvPr id="10" name="Shape 7"/>
          <p:cNvSpPr/>
          <p:nvPr/>
        </p:nvSpPr>
        <p:spPr>
          <a:xfrm>
            <a:off x="1934413" y="2130552"/>
            <a:ext cx="621792" cy="621792"/>
          </a:xfrm>
          <a:prstGeom prst="ellipse">
            <a:avLst/>
          </a:prstGeom>
          <a:solidFill>
            <a:srgbClr val="22C55E"/>
          </a:solidFill>
          <a:ln/>
        </p:spPr>
        <p:txBody>
          <a:bodyPr/>
          <a:lstStyle/>
          <a:p>
            <a:endParaRPr lang="fr-FR"/>
          </a:p>
        </p:txBody>
      </p:sp>
      <p:pic>
        <p:nvPicPr>
          <p:cNvPr id="11" name="Image 1" descr="D:\SIGUI\ProjetFinal\pptx_icons\chart_line.png"/>
          <p:cNvPicPr>
            <a:picLocks noChangeAspect="1"/>
          </p:cNvPicPr>
          <p:nvPr/>
        </p:nvPicPr>
        <p:blipFill>
          <a:blip r:embed="rId4"/>
          <a:stretch>
            <a:fillRect/>
          </a:stretch>
        </p:blipFill>
        <p:spPr>
          <a:xfrm>
            <a:off x="2099005" y="2295144"/>
            <a:ext cx="292608" cy="292608"/>
          </a:xfrm>
          <a:prstGeom prst="rect">
            <a:avLst/>
          </a:prstGeom>
        </p:spPr>
      </p:pic>
      <p:sp>
        <p:nvSpPr>
          <p:cNvPr id="12" name="Text 8"/>
          <p:cNvSpPr/>
          <p:nvPr/>
        </p:nvSpPr>
        <p:spPr>
          <a:xfrm>
            <a:off x="621792" y="2862072"/>
            <a:ext cx="3247034" cy="502920"/>
          </a:xfrm>
          <a:prstGeom prst="rect">
            <a:avLst/>
          </a:prstGeom>
          <a:noFill/>
          <a:ln/>
        </p:spPr>
        <p:txBody>
          <a:bodyPr wrap="square" rtlCol="0" anchor="t"/>
          <a:lstStyle/>
          <a:p>
            <a:pPr marL="0" indent="0" algn="ctr">
              <a:buNone/>
            </a:pPr>
            <a:r>
              <a:rPr lang="en-US" sz="1400" b="1" dirty="0">
                <a:solidFill>
                  <a:srgbClr val="14532D"/>
                </a:solidFill>
                <a:latin typeface="Calibri" pitchFamily="34" charset="0"/>
                <a:ea typeface="Calibri" pitchFamily="34" charset="-122"/>
                <a:cs typeface="Calibri" pitchFamily="34" charset="-120"/>
              </a:rPr>
              <a:t>Pourquoi un score aussi élevé ?</a:t>
            </a:r>
            <a:endParaRPr lang="en-US" sz="1400" dirty="0"/>
          </a:p>
        </p:txBody>
      </p:sp>
      <p:sp>
        <p:nvSpPr>
          <p:cNvPr id="13" name="Text 9"/>
          <p:cNvSpPr/>
          <p:nvPr/>
        </p:nvSpPr>
        <p:spPr>
          <a:xfrm>
            <a:off x="658368" y="3410712"/>
            <a:ext cx="3173882" cy="2560320"/>
          </a:xfrm>
          <a:prstGeom prst="rect">
            <a:avLst/>
          </a:prstGeom>
          <a:noFill/>
          <a:ln/>
        </p:spPr>
        <p:txBody>
          <a:bodyPr wrap="square" rtlCol="0" anchor="t"/>
          <a:lstStyle/>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Forte autocorrélation à court terme de la température</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Le modèle bénéficie surtout de la persistance récente</a:t>
            </a:r>
            <a:endParaRPr lang="en-US" sz="1150" dirty="0"/>
          </a:p>
        </p:txBody>
      </p:sp>
      <p:sp>
        <p:nvSpPr>
          <p:cNvPr id="14" name="Shape 10"/>
          <p:cNvSpPr/>
          <p:nvPr/>
        </p:nvSpPr>
        <p:spPr>
          <a:xfrm>
            <a:off x="4307738" y="1874520"/>
            <a:ext cx="3576218" cy="4206240"/>
          </a:xfrm>
          <a:prstGeom prst="roundRect">
            <a:avLst>
              <a:gd name="adj" fmla="val 2557"/>
            </a:avLst>
          </a:prstGeom>
          <a:solidFill>
            <a:srgbClr val="F3FBF6"/>
          </a:solidFill>
          <a:ln/>
        </p:spPr>
        <p:txBody>
          <a:bodyPr/>
          <a:lstStyle/>
          <a:p>
            <a:endParaRPr lang="fr-FR"/>
          </a:p>
        </p:txBody>
      </p:sp>
      <p:sp>
        <p:nvSpPr>
          <p:cNvPr id="15" name="Shape 11"/>
          <p:cNvSpPr/>
          <p:nvPr/>
        </p:nvSpPr>
        <p:spPr>
          <a:xfrm>
            <a:off x="5784952" y="2130552"/>
            <a:ext cx="621792" cy="621792"/>
          </a:xfrm>
          <a:prstGeom prst="ellipse">
            <a:avLst/>
          </a:prstGeom>
          <a:solidFill>
            <a:srgbClr val="22C55E"/>
          </a:solidFill>
          <a:ln/>
        </p:spPr>
        <p:txBody>
          <a:bodyPr/>
          <a:lstStyle/>
          <a:p>
            <a:endParaRPr lang="fr-FR"/>
          </a:p>
        </p:txBody>
      </p:sp>
      <p:pic>
        <p:nvPicPr>
          <p:cNvPr id="16" name="Image 2" descr="D:\SIGUI\ProjetFinal\pptx_icons\outliers.png"/>
          <p:cNvPicPr>
            <a:picLocks noChangeAspect="1"/>
          </p:cNvPicPr>
          <p:nvPr/>
        </p:nvPicPr>
        <p:blipFill>
          <a:blip r:embed="rId5"/>
          <a:stretch>
            <a:fillRect/>
          </a:stretch>
        </p:blipFill>
        <p:spPr>
          <a:xfrm>
            <a:off x="5949544" y="2295144"/>
            <a:ext cx="292608" cy="292608"/>
          </a:xfrm>
          <a:prstGeom prst="rect">
            <a:avLst/>
          </a:prstGeom>
        </p:spPr>
      </p:pic>
      <p:sp>
        <p:nvSpPr>
          <p:cNvPr id="17" name="Text 12"/>
          <p:cNvSpPr/>
          <p:nvPr/>
        </p:nvSpPr>
        <p:spPr>
          <a:xfrm>
            <a:off x="4472330" y="2862072"/>
            <a:ext cx="3247034" cy="502920"/>
          </a:xfrm>
          <a:prstGeom prst="rect">
            <a:avLst/>
          </a:prstGeom>
          <a:noFill/>
          <a:ln/>
        </p:spPr>
        <p:txBody>
          <a:bodyPr wrap="square" rtlCol="0" anchor="t"/>
          <a:lstStyle/>
          <a:p>
            <a:pPr marL="0" indent="0" algn="ctr">
              <a:buNone/>
            </a:pPr>
            <a:r>
              <a:rPr lang="en-US" sz="1400" b="1" dirty="0">
                <a:solidFill>
                  <a:srgbClr val="14532D"/>
                </a:solidFill>
                <a:latin typeface="Calibri" pitchFamily="34" charset="0"/>
                <a:ea typeface="Calibri" pitchFamily="34" charset="-122"/>
                <a:cs typeface="Calibri" pitchFamily="34" charset="-120"/>
              </a:rPr>
              <a:t>Limites identifiées</a:t>
            </a:r>
            <a:endParaRPr lang="en-US" sz="1400" dirty="0"/>
          </a:p>
        </p:txBody>
      </p:sp>
      <p:sp>
        <p:nvSpPr>
          <p:cNvPr id="18" name="Text 13"/>
          <p:cNvSpPr/>
          <p:nvPr/>
        </p:nvSpPr>
        <p:spPr>
          <a:xfrm>
            <a:off x="4508906" y="3410712"/>
            <a:ext cx="3173882" cy="2560320"/>
          </a:xfrm>
          <a:prstGeom prst="rect">
            <a:avLst/>
          </a:prstGeom>
          <a:noFill/>
          <a:ln/>
        </p:spPr>
        <p:txBody>
          <a:bodyPr wrap="square" rtlCol="0" anchor="t"/>
          <a:lstStyle/>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Validé uniquement sur Szeged</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Horizon de prévision très court (dépend des données récentes)</a:t>
            </a:r>
            <a:endParaRPr lang="en-US" sz="1150" dirty="0"/>
          </a:p>
        </p:txBody>
      </p:sp>
      <p:sp>
        <p:nvSpPr>
          <p:cNvPr id="19" name="Shape 14"/>
          <p:cNvSpPr/>
          <p:nvPr/>
        </p:nvSpPr>
        <p:spPr>
          <a:xfrm>
            <a:off x="8158277" y="1874520"/>
            <a:ext cx="3576218" cy="4206240"/>
          </a:xfrm>
          <a:prstGeom prst="roundRect">
            <a:avLst>
              <a:gd name="adj" fmla="val 2557"/>
            </a:avLst>
          </a:prstGeom>
          <a:solidFill>
            <a:srgbClr val="F3FBF6"/>
          </a:solidFill>
          <a:ln/>
        </p:spPr>
        <p:txBody>
          <a:bodyPr/>
          <a:lstStyle/>
          <a:p>
            <a:endParaRPr lang="fr-FR"/>
          </a:p>
        </p:txBody>
      </p:sp>
      <p:sp>
        <p:nvSpPr>
          <p:cNvPr id="20" name="Shape 15"/>
          <p:cNvSpPr/>
          <p:nvPr/>
        </p:nvSpPr>
        <p:spPr>
          <a:xfrm>
            <a:off x="9635490" y="2130552"/>
            <a:ext cx="621792" cy="621792"/>
          </a:xfrm>
          <a:prstGeom prst="ellipse">
            <a:avLst/>
          </a:prstGeom>
          <a:solidFill>
            <a:srgbClr val="22C55E"/>
          </a:solidFill>
          <a:ln/>
        </p:spPr>
        <p:txBody>
          <a:bodyPr/>
          <a:lstStyle/>
          <a:p>
            <a:endParaRPr lang="fr-FR"/>
          </a:p>
        </p:txBody>
      </p:sp>
      <p:pic>
        <p:nvPicPr>
          <p:cNvPr id="21" name="Image 3" descr="D:\SIGUI\ProjetFinal\pptx_icons\rocket.png"/>
          <p:cNvPicPr>
            <a:picLocks noChangeAspect="1"/>
          </p:cNvPicPr>
          <p:nvPr/>
        </p:nvPicPr>
        <p:blipFill>
          <a:blip r:embed="rId6"/>
          <a:stretch>
            <a:fillRect/>
          </a:stretch>
        </p:blipFill>
        <p:spPr>
          <a:xfrm>
            <a:off x="9800082" y="2295144"/>
            <a:ext cx="292608" cy="292608"/>
          </a:xfrm>
          <a:prstGeom prst="rect">
            <a:avLst/>
          </a:prstGeom>
        </p:spPr>
      </p:pic>
      <p:sp>
        <p:nvSpPr>
          <p:cNvPr id="22" name="Text 16"/>
          <p:cNvSpPr/>
          <p:nvPr/>
        </p:nvSpPr>
        <p:spPr>
          <a:xfrm>
            <a:off x="8322869" y="2862072"/>
            <a:ext cx="3247034" cy="502920"/>
          </a:xfrm>
          <a:prstGeom prst="rect">
            <a:avLst/>
          </a:prstGeom>
          <a:noFill/>
          <a:ln/>
        </p:spPr>
        <p:txBody>
          <a:bodyPr wrap="square" rtlCol="0" anchor="t"/>
          <a:lstStyle/>
          <a:p>
            <a:pPr marL="0" indent="0" algn="ctr">
              <a:buNone/>
            </a:pPr>
            <a:r>
              <a:rPr lang="en-US" sz="1400" b="1" dirty="0">
                <a:solidFill>
                  <a:srgbClr val="14532D"/>
                </a:solidFill>
                <a:latin typeface="Calibri" pitchFamily="34" charset="0"/>
                <a:ea typeface="Calibri" pitchFamily="34" charset="-122"/>
                <a:cs typeface="Calibri" pitchFamily="34" charset="-120"/>
              </a:rPr>
              <a:t>Pistes d'amélioration</a:t>
            </a:r>
            <a:endParaRPr lang="en-US" sz="1400" dirty="0"/>
          </a:p>
        </p:txBody>
      </p:sp>
      <p:sp>
        <p:nvSpPr>
          <p:cNvPr id="23" name="Text 17"/>
          <p:cNvSpPr/>
          <p:nvPr/>
        </p:nvSpPr>
        <p:spPr>
          <a:xfrm>
            <a:off x="8359445" y="3410712"/>
            <a:ext cx="3173882" cy="2560320"/>
          </a:xfrm>
          <a:prstGeom prst="rect">
            <a:avLst/>
          </a:prstGeom>
          <a:noFill/>
          <a:ln/>
        </p:spPr>
        <p:txBody>
          <a:bodyPr wrap="square" rtlCol="0" anchor="t"/>
          <a:lstStyle/>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Comparer à XGBoost / LightGBM</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Prévision multi-horizon (6h, 12h, 24h)</a:t>
            </a:r>
            <a:endParaRPr lang="en-US" sz="1150" dirty="0"/>
          </a:p>
          <a:p>
            <a:pPr marL="152400" indent="-152400">
              <a:lnSpc>
                <a:spcPct val="110000"/>
              </a:lnSpc>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Déploiement en service continu</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9692640" y="4023360"/>
            <a:ext cx="3840480" cy="3840480"/>
          </a:xfrm>
          <a:prstGeom prst="ellipse">
            <a:avLst/>
          </a:prstGeom>
          <a:ln w="19050">
            <a:solidFill>
              <a:srgbClr val="1D7A50"/>
            </a:solidFill>
            <a:prstDash val="solid"/>
          </a:ln>
        </p:spPr>
        <p:txBody>
          <a:bodyPr/>
          <a:lstStyle/>
          <a:p>
            <a:endParaRPr lang="fr-FR"/>
          </a:p>
        </p:txBody>
      </p:sp>
      <p:sp>
        <p:nvSpPr>
          <p:cNvPr id="4" name="Shape 2"/>
          <p:cNvSpPr/>
          <p:nvPr/>
        </p:nvSpPr>
        <p:spPr>
          <a:xfrm>
            <a:off x="822960" y="777240"/>
            <a:ext cx="1005840" cy="1005840"/>
          </a:xfrm>
          <a:prstGeom prst="ellipse">
            <a:avLst/>
          </a:prstGeom>
          <a:solidFill>
            <a:srgbClr val="22C55E"/>
          </a:solidFill>
          <a:ln/>
        </p:spPr>
        <p:txBody>
          <a:bodyPr/>
          <a:lstStyle/>
          <a:p>
            <a:endParaRPr lang="fr-FR"/>
          </a:p>
        </p:txBody>
      </p:sp>
      <p:sp>
        <p:nvSpPr>
          <p:cNvPr id="5" name="Text 3"/>
          <p:cNvSpPr/>
          <p:nvPr/>
        </p:nvSpPr>
        <p:spPr>
          <a:xfrm>
            <a:off x="822960" y="777240"/>
            <a:ext cx="1005840" cy="1005840"/>
          </a:xfrm>
          <a:prstGeom prst="rect">
            <a:avLst/>
          </a:prstGeom>
          <a:noFill/>
          <a:ln/>
        </p:spPr>
        <p:txBody>
          <a:bodyPr wrap="square" rtlCol="0" anchor="ctr"/>
          <a:lstStyle/>
          <a:p>
            <a:pPr marL="0" indent="0" algn="ctr">
              <a:buNone/>
            </a:pPr>
            <a:r>
              <a:rPr lang="en-US" sz="2000" b="1" dirty="0">
                <a:solidFill>
                  <a:srgbClr val="0F3D28"/>
                </a:solidFill>
                <a:latin typeface="Cambria" pitchFamily="34" charset="0"/>
                <a:ea typeface="Cambria" pitchFamily="34" charset="-122"/>
                <a:cs typeface="Cambria" pitchFamily="34" charset="-120"/>
              </a:rPr>
              <a:t>FIN</a:t>
            </a:r>
            <a:endParaRPr lang="en-US" sz="2000" dirty="0"/>
          </a:p>
        </p:txBody>
      </p:sp>
      <p:sp>
        <p:nvSpPr>
          <p:cNvPr id="6" name="Text 4"/>
          <p:cNvSpPr/>
          <p:nvPr/>
        </p:nvSpPr>
        <p:spPr>
          <a:xfrm>
            <a:off x="822960" y="2286000"/>
            <a:ext cx="10545775" cy="1280160"/>
          </a:xfrm>
          <a:prstGeom prst="rect">
            <a:avLst/>
          </a:prstGeom>
          <a:noFill/>
          <a:ln/>
        </p:spPr>
        <p:txBody>
          <a:bodyPr wrap="square"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7" name="Text 5"/>
          <p:cNvSpPr/>
          <p:nvPr/>
        </p:nvSpPr>
        <p:spPr>
          <a:xfrm>
            <a:off x="822960" y="3429000"/>
            <a:ext cx="9814255" cy="914400"/>
          </a:xfrm>
          <a:prstGeom prst="rect">
            <a:avLst/>
          </a:prstGeom>
          <a:noFill/>
          <a:ln/>
        </p:spPr>
        <p:txBody>
          <a:bodyPr wrap="square" rtlCol="0" anchor="t"/>
          <a:lstStyle/>
          <a:p>
            <a:pPr marL="0" indent="0">
              <a:lnSpc>
                <a:spcPct val="120000"/>
              </a:lnSpc>
              <a:buNone/>
            </a:pPr>
            <a:r>
              <a:rPr lang="en-US" sz="1450" i="1" dirty="0">
                <a:solidFill>
                  <a:srgbClr val="CFEFDD"/>
                </a:solidFill>
                <a:latin typeface="Calibri" pitchFamily="34" charset="0"/>
                <a:ea typeface="Calibri" pitchFamily="34" charset="-122"/>
                <a:cs typeface="Calibri" pitchFamily="34" charset="-120"/>
              </a:rPr>
              <a:t>Bilan du projet, portée des résultats obtenus et perspectives pour la suite.</a:t>
            </a:r>
            <a:endParaRPr lang="en-US" sz="1450" dirty="0"/>
          </a:p>
        </p:txBody>
      </p:sp>
      <p:sp>
        <p:nvSpPr>
          <p:cNvPr id="8" name="Shape 6"/>
          <p:cNvSpPr/>
          <p:nvPr/>
        </p:nvSpPr>
        <p:spPr>
          <a:xfrm>
            <a:off x="822960" y="4892040"/>
            <a:ext cx="4206240" cy="502920"/>
          </a:xfrm>
          <a:prstGeom prst="roundRect">
            <a:avLst>
              <a:gd name="adj" fmla="val 14545"/>
            </a:avLst>
          </a:prstGeom>
          <a:solidFill>
            <a:srgbClr val="FFFFFF"/>
          </a:solidFill>
          <a:ln/>
        </p:spPr>
        <p:txBody>
          <a:bodyPr/>
          <a:lstStyle/>
          <a:p>
            <a:endParaRPr lang="fr-FR"/>
          </a:p>
        </p:txBody>
      </p:sp>
      <p:sp>
        <p:nvSpPr>
          <p:cNvPr id="9" name="Text 7"/>
          <p:cNvSpPr/>
          <p:nvPr/>
        </p:nvSpPr>
        <p:spPr>
          <a:xfrm>
            <a:off x="822960" y="4892040"/>
            <a:ext cx="4206240" cy="502920"/>
          </a:xfrm>
          <a:prstGeom prst="rect">
            <a:avLst/>
          </a:prstGeom>
          <a:noFill/>
          <a:ln/>
        </p:spPr>
        <p:txBody>
          <a:bodyPr wrap="square" rtlCol="0" anchor="ctr"/>
          <a:lstStyle/>
          <a:p>
            <a:r>
              <a:rPr lang="en-US" sz="1500" b="1" dirty="0">
                <a:solidFill>
                  <a:srgbClr val="FFFFFF"/>
                </a:solidFill>
                <a:latin typeface="Calibri" pitchFamily="34" charset="0"/>
                <a:ea typeface="Calibri" pitchFamily="34" charset="-122"/>
                <a:cs typeface="Calibri" pitchFamily="34" charset="-120"/>
              </a:rPr>
              <a:t>Présenté par : </a:t>
            </a:r>
            <a:r>
              <a:rPr lang="en-US" sz="1500" i="1" dirty="0">
                <a:solidFill>
                  <a:srgbClr val="CFEFDD"/>
                </a:solidFill>
                <a:latin typeface="Calibri" pitchFamily="34" charset="0"/>
                <a:ea typeface="Calibri" pitchFamily="34" charset="-122"/>
                <a:cs typeface="Calibri" pitchFamily="34" charset="-120"/>
              </a:rPr>
              <a:t>KONE Abdel Kader Razack</a:t>
            </a:r>
            <a:endParaRPr lang="en-US" sz="1500" dirty="0"/>
          </a:p>
        </p:txBody>
      </p:sp>
      <p:sp>
        <p:nvSpPr>
          <p:cNvPr id="10" name="Text 8"/>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005840"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1005840"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CONCLUSION</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clipboard.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Conclusion : bilan</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463040"/>
            <a:ext cx="11277295" cy="548640"/>
          </a:xfrm>
          <a:prstGeom prst="rect">
            <a:avLst/>
          </a:prstGeom>
          <a:noFill/>
          <a:ln/>
        </p:spPr>
        <p:txBody>
          <a:bodyPr wrap="square" rtlCol="0" anchor="t"/>
          <a:lstStyle/>
          <a:p>
            <a:pPr marL="0" indent="0">
              <a:lnSpc>
                <a:spcPct val="115000"/>
              </a:lnSpc>
              <a:buNone/>
            </a:pPr>
            <a:r>
              <a:rPr lang="en-US" sz="1550" dirty="0">
                <a:solidFill>
                  <a:srgbClr val="1F2937"/>
                </a:solidFill>
                <a:latin typeface="Calibri" pitchFamily="34" charset="0"/>
                <a:ea typeface="Calibri" pitchFamily="34" charset="-122"/>
                <a:cs typeface="Calibri" pitchFamily="34" charset="-120"/>
              </a:rPr>
              <a:t>Le groupe a livré une chaîne complète de traitement et d'exploitation des données météorologiques.</a:t>
            </a:r>
            <a:endParaRPr lang="en-US" sz="15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8229600" cy="2816352"/>
        </p:xfrm>
        <a:graphic>
          <a:graphicData uri="http://schemas.openxmlformats.org/drawingml/2006/table">
            <a:tbl>
              <a:tblPr/>
              <a:tblGrid>
                <a:gridCol w="19202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02336">
                <a:tc>
                  <a:txBody>
                    <a:bodyPr/>
                    <a:lstStyle/>
                    <a:p>
                      <a:pPr marL="0" indent="0" algn="l">
                        <a:buNone/>
                      </a:pPr>
                      <a:r>
                        <a:rPr lang="en-US" sz="1150" b="1" dirty="0">
                          <a:solidFill>
                            <a:srgbClr val="FFFFFF"/>
                          </a:solidFill>
                        </a:rPr>
                        <a:t>Étape</a:t>
                      </a:r>
                      <a:endParaRPr lang="en-US" sz="11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150" b="1" dirty="0">
                          <a:solidFill>
                            <a:srgbClr val="FFFFFF"/>
                          </a:solidFill>
                        </a:rPr>
                        <a:t>Technologie</a:t>
                      </a:r>
                      <a:endParaRPr lang="en-US" sz="11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tc>
                  <a:txBody>
                    <a:bodyPr/>
                    <a:lstStyle/>
                    <a:p>
                      <a:pPr marL="0" indent="0" algn="l">
                        <a:buNone/>
                      </a:pPr>
                      <a:r>
                        <a:rPr lang="en-US" sz="1150" b="1" dirty="0">
                          <a:solidFill>
                            <a:srgbClr val="FFFFFF"/>
                          </a:solidFill>
                        </a:rPr>
                        <a:t>Résultat</a:t>
                      </a:r>
                      <a:endParaRPr lang="en-US" sz="1150" dirty="0"/>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532D"/>
                    </a:solidFill>
                  </a:tcPr>
                </a:tc>
                <a:extLst>
                  <a:ext uri="{0D108BD9-81ED-4DB2-BD59-A6C34878D82A}">
                    <a16:rowId xmlns:a16="http://schemas.microsoft.com/office/drawing/2014/main" val="10000"/>
                  </a:ext>
                </a:extLst>
              </a:tr>
              <a:tr h="402336">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Extract</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Python + Kaggle</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Données brutes récupérées</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Ingestion</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NiFi + MinIO</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Stockage raw</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2"/>
                  </a:ext>
                </a:extLst>
              </a:tr>
              <a:tr h="402336">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Transform</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Python + pandas</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Données nettoyées et enrichies</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Load</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pymongo</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Base MongoDB exploitable</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4"/>
                  </a:ext>
                </a:extLst>
              </a:tr>
              <a:tr h="402336">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Analyse / Viz</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pandas + matplotlib + Streamlit</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Indicateurs et dashboard</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Modélisation</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scikit-learn</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tc>
                  <a:txBody>
                    <a:bodyPr/>
                    <a:lstStyle/>
                    <a:p>
                      <a:pPr marL="0" indent="0" algn="l">
                        <a:buNone/>
                      </a:pPr>
                      <a:r>
                        <a:rPr lang="en-US" sz="1150" dirty="0">
                          <a:solidFill>
                            <a:srgbClr val="1F2937"/>
                          </a:solidFill>
                          <a:latin typeface="Calibri" pitchFamily="34" charset="0"/>
                          <a:ea typeface="Calibri" pitchFamily="34" charset="-122"/>
                          <a:cs typeface="Calibri" pitchFamily="34" charset="-120"/>
                        </a:rPr>
                        <a:t>Prédiction de température (R² = 0,993)</a:t>
                      </a:r>
                      <a:endParaRPr lang="en-US" sz="1150" dirty="0">
                        <a:latin typeface="Calibri" charset="0"/>
                        <a:ea typeface="Calibri" charset="0"/>
                        <a:cs typeface="Calibri" charset="0"/>
                      </a:endParaRPr>
                    </a:p>
                  </a:txBody>
                  <a:tcPr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BF6"/>
                    </a:solidFill>
                  </a:tcPr>
                </a:tc>
                <a:extLst>
                  <a:ext uri="{0D108BD9-81ED-4DB2-BD59-A6C34878D82A}">
                    <a16:rowId xmlns:a16="http://schemas.microsoft.com/office/drawing/2014/main" val="10006"/>
                  </a:ext>
                </a:extLst>
              </a:tr>
            </a:tbl>
          </a:graphicData>
        </a:graphic>
      </p:graphicFrame>
      <p:sp>
        <p:nvSpPr>
          <p:cNvPr id="10" name="Shape 6"/>
          <p:cNvSpPr/>
          <p:nvPr/>
        </p:nvSpPr>
        <p:spPr>
          <a:xfrm>
            <a:off x="457200" y="5440680"/>
            <a:ext cx="11277295" cy="640080"/>
          </a:xfrm>
          <a:prstGeom prst="roundRect">
            <a:avLst>
              <a:gd name="adj" fmla="val 8571"/>
            </a:avLst>
          </a:prstGeom>
          <a:solidFill>
            <a:srgbClr val="E3F5EA"/>
          </a:solidFill>
          <a:ln/>
        </p:spPr>
        <p:txBody>
          <a:bodyPr/>
          <a:lstStyle/>
          <a:p>
            <a:endParaRPr lang="fr-FR"/>
          </a:p>
        </p:txBody>
      </p:sp>
      <p:sp>
        <p:nvSpPr>
          <p:cNvPr id="11" name="Text 7"/>
          <p:cNvSpPr/>
          <p:nvPr/>
        </p:nvSpPr>
        <p:spPr>
          <a:xfrm>
            <a:off x="640080" y="5440680"/>
            <a:ext cx="10911535" cy="640080"/>
          </a:xfrm>
          <a:prstGeom prst="rect">
            <a:avLst/>
          </a:prstGeom>
          <a:noFill/>
          <a:ln/>
        </p:spPr>
        <p:txBody>
          <a:bodyPr wrap="square" rtlCol="0" anchor="ctr"/>
          <a:lstStyle/>
          <a:p>
            <a:pPr marL="0" indent="0">
              <a:buNone/>
            </a:pPr>
            <a:r>
              <a:rPr lang="en-US" sz="1250" b="1" i="1" dirty="0">
                <a:solidFill>
                  <a:srgbClr val="14532D"/>
                </a:solidFill>
                <a:latin typeface="Calibri" pitchFamily="34" charset="0"/>
                <a:ea typeface="Calibri" pitchFamily="34" charset="-122"/>
                <a:cs typeface="Calibri" pitchFamily="34" charset="-120"/>
              </a:rPr>
              <a:t>La qualité du modèle final valide, de façon concrète, la rigueur du travail d'ingénierie réalisé en amont : </a:t>
            </a:r>
            <a:r>
              <a:rPr lang="en-US" sz="1250" i="1" dirty="0">
                <a:solidFill>
                  <a:srgbClr val="14532D"/>
                </a:solidFill>
                <a:latin typeface="Calibri" pitchFamily="34" charset="0"/>
                <a:ea typeface="Calibri" pitchFamily="34" charset="-122"/>
                <a:cs typeface="Calibri" pitchFamily="34" charset="-120"/>
              </a:rPr>
              <a:t>un modèle n'est fiable que si les données qui l'alimentent le sont.</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005840" cy="274320"/>
          </a:xfrm>
          <a:prstGeom prst="roundRect">
            <a:avLst>
              <a:gd name="adj" fmla="val 20000"/>
            </a:avLst>
          </a:prstGeom>
          <a:solidFill>
            <a:srgbClr val="E3F5EA"/>
          </a:solidFill>
          <a:ln/>
        </p:spPr>
        <p:txBody>
          <a:bodyPr/>
          <a:lstStyle/>
          <a:p>
            <a:endParaRPr lang="fr-FR"/>
          </a:p>
        </p:txBody>
      </p:sp>
      <p:sp>
        <p:nvSpPr>
          <p:cNvPr id="3" name="Text 1"/>
          <p:cNvSpPr/>
          <p:nvPr/>
        </p:nvSpPr>
        <p:spPr>
          <a:xfrm>
            <a:off x="457200" y="320040"/>
            <a:ext cx="1005840" cy="274320"/>
          </a:xfrm>
          <a:prstGeom prst="rect">
            <a:avLst/>
          </a:prstGeom>
          <a:noFill/>
          <a:ln/>
        </p:spPr>
        <p:txBody>
          <a:bodyPr wrap="square" rtlCol="0" anchor="ctr"/>
          <a:lstStyle/>
          <a:p>
            <a:pPr marL="0" indent="0" algn="ctr">
              <a:buNone/>
            </a:pPr>
            <a:r>
              <a:rPr lang="en-US" sz="1050" b="1" dirty="0">
                <a:solidFill>
                  <a:srgbClr val="14532D"/>
                </a:solidFill>
                <a:latin typeface="Calibri" pitchFamily="34" charset="0"/>
                <a:ea typeface="Calibri" pitchFamily="34" charset="-122"/>
                <a:cs typeface="Calibri" pitchFamily="34" charset="-120"/>
              </a:rPr>
              <a:t>CONCLUSION</a:t>
            </a:r>
            <a:endParaRPr lang="en-US" sz="1050" dirty="0"/>
          </a:p>
        </p:txBody>
      </p:sp>
      <p:sp>
        <p:nvSpPr>
          <p:cNvPr id="4" name="Shape 2"/>
          <p:cNvSpPr/>
          <p:nvPr/>
        </p:nvSpPr>
        <p:spPr>
          <a:xfrm>
            <a:off x="457200" y="749808"/>
            <a:ext cx="548640" cy="548640"/>
          </a:xfrm>
          <a:prstGeom prst="ellipse">
            <a:avLst/>
          </a:prstGeom>
          <a:solidFill>
            <a:srgbClr val="22C55E"/>
          </a:solidFill>
          <a:ln/>
        </p:spPr>
        <p:txBody>
          <a:bodyPr/>
          <a:lstStyle/>
          <a:p>
            <a:endParaRPr lang="fr-FR"/>
          </a:p>
        </p:txBody>
      </p:sp>
      <p:pic>
        <p:nvPicPr>
          <p:cNvPr id="5" name="Image 0" descr="D:\SIGUI\ProjetFinal\pptx_icons\globe.png"/>
          <p:cNvPicPr>
            <a:picLocks noChangeAspect="1"/>
          </p:cNvPicPr>
          <p:nvPr/>
        </p:nvPicPr>
        <p:blipFill>
          <a:blip r:embed="rId3"/>
          <a:stretch>
            <a:fillRect/>
          </a:stretch>
        </p:blipFill>
        <p:spPr>
          <a:xfrm>
            <a:off x="603504" y="896112"/>
            <a:ext cx="256032" cy="256032"/>
          </a:xfrm>
          <a:prstGeom prst="rect">
            <a:avLst/>
          </a:prstGeom>
        </p:spPr>
      </p:pic>
      <p:sp>
        <p:nvSpPr>
          <p:cNvPr id="6" name="Text 3"/>
          <p:cNvSpPr/>
          <p:nvPr/>
        </p:nvSpPr>
        <p:spPr>
          <a:xfrm>
            <a:off x="1188720" y="713232"/>
            <a:ext cx="10545775" cy="640080"/>
          </a:xfrm>
          <a:prstGeom prst="rect">
            <a:avLst/>
          </a:prstGeom>
          <a:noFill/>
          <a:ln/>
        </p:spPr>
        <p:txBody>
          <a:bodyPr wrap="square" rtlCol="0" anchor="ctr"/>
          <a:lstStyle/>
          <a:p>
            <a:pPr marL="0" indent="0">
              <a:buNone/>
            </a:pPr>
            <a:r>
              <a:rPr lang="en-US" sz="2800" b="1" dirty="0">
                <a:solidFill>
                  <a:srgbClr val="14532D"/>
                </a:solidFill>
                <a:latin typeface="Calibri" pitchFamily="34" charset="0"/>
                <a:ea typeface="Calibri" pitchFamily="34" charset="-122"/>
                <a:cs typeface="Calibri" pitchFamily="34" charset="-120"/>
              </a:rPr>
              <a:t>Conclusion: portée &amp; perspectives</a:t>
            </a:r>
            <a:endParaRPr lang="en-US" sz="2800" dirty="0"/>
          </a:p>
        </p:txBody>
      </p:sp>
      <p:sp>
        <p:nvSpPr>
          <p:cNvPr id="7" name="Text 4"/>
          <p:cNvSpPr/>
          <p:nvPr/>
        </p:nvSpPr>
        <p:spPr>
          <a:xfrm>
            <a:off x="457200" y="6473952"/>
            <a:ext cx="64008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Weather Data Platform — ForceN, Groupe A</a:t>
            </a:r>
            <a:endParaRPr lang="en-US" sz="900" dirty="0"/>
          </a:p>
        </p:txBody>
      </p:sp>
      <p:sp>
        <p:nvSpPr>
          <p:cNvPr id="8" name="Text 5"/>
          <p:cNvSpPr/>
          <p:nvPr/>
        </p:nvSpPr>
        <p:spPr>
          <a:xfrm>
            <a:off x="457200" y="1508760"/>
            <a:ext cx="5303520" cy="365760"/>
          </a:xfrm>
          <a:prstGeom prst="rect">
            <a:avLst/>
          </a:prstGeom>
          <a:noFill/>
          <a:ln/>
        </p:spPr>
        <p:txBody>
          <a:bodyPr wrap="square" rtlCol="0" anchor="ctr"/>
          <a:lstStyle/>
          <a:p>
            <a:pPr marL="0" indent="0">
              <a:buNone/>
            </a:pPr>
            <a:r>
              <a:rPr lang="en-US" sz="1600" b="1" dirty="0">
                <a:solidFill>
                  <a:srgbClr val="14532D"/>
                </a:solidFill>
                <a:latin typeface="Calibri" pitchFamily="34" charset="0"/>
                <a:ea typeface="Calibri" pitchFamily="34" charset="-122"/>
                <a:cs typeface="Calibri" pitchFamily="34" charset="-120"/>
              </a:rPr>
              <a:t>Portée du projet</a:t>
            </a:r>
            <a:endParaRPr lang="en-US" sz="1600" dirty="0"/>
          </a:p>
        </p:txBody>
      </p:sp>
      <p:sp>
        <p:nvSpPr>
          <p:cNvPr id="9" name="Text 6"/>
          <p:cNvSpPr/>
          <p:nvPr/>
        </p:nvSpPr>
        <p:spPr>
          <a:xfrm>
            <a:off x="457200" y="1965960"/>
            <a:ext cx="5303520" cy="3200400"/>
          </a:xfrm>
          <a:prstGeom prst="rect">
            <a:avLst/>
          </a:prstGeom>
          <a:noFill/>
          <a:ln/>
        </p:spPr>
        <p:txBody>
          <a:bodyPr wrap="square" rtlCol="0" anchor="t"/>
          <a:lstStyle/>
          <a:p>
            <a:pPr marL="228600" indent="-228600">
              <a:lnSpc>
                <a:spcPct val="115000"/>
              </a:lnSpc>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Meilleure préparation aux événements météorologiques</a:t>
            </a:r>
            <a:endParaRPr lang="en-US" sz="1400" dirty="0"/>
          </a:p>
          <a:p>
            <a:pPr marL="228600" indent="-228600">
              <a:lnSpc>
                <a:spcPct val="115000"/>
              </a:lnSpc>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Soutien à la décision agricole</a:t>
            </a:r>
            <a:endParaRPr lang="en-US" sz="1400" dirty="0"/>
          </a:p>
          <a:p>
            <a:pPr marL="228600" indent="-228600">
              <a:lnSpc>
                <a:spcPct val="115000"/>
              </a:lnSpc>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Aide à la planification des activités quotidiennes</a:t>
            </a:r>
            <a:endParaRPr lang="en-US" sz="1400" dirty="0"/>
          </a:p>
          <a:p>
            <a:pPr marL="228600" indent="-228600">
              <a:lnSpc>
                <a:spcPct val="115000"/>
              </a:lnSpc>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Stack (Docker, MinIO, NiFi, MongoDB, scikit-learn) transposable en production</a:t>
            </a:r>
            <a:endParaRPr lang="en-US" sz="1400" dirty="0"/>
          </a:p>
        </p:txBody>
      </p:sp>
      <p:sp>
        <p:nvSpPr>
          <p:cNvPr id="10" name="Text 7"/>
          <p:cNvSpPr/>
          <p:nvPr/>
        </p:nvSpPr>
        <p:spPr>
          <a:xfrm>
            <a:off x="6035040" y="1508760"/>
            <a:ext cx="5669280" cy="365760"/>
          </a:xfrm>
          <a:prstGeom prst="rect">
            <a:avLst/>
          </a:prstGeom>
          <a:noFill/>
          <a:ln/>
        </p:spPr>
        <p:txBody>
          <a:bodyPr wrap="square" rtlCol="0" anchor="ctr"/>
          <a:lstStyle/>
          <a:p>
            <a:pPr marL="0" indent="0">
              <a:buNone/>
            </a:pPr>
            <a:r>
              <a:rPr lang="en-US" sz="1600" b="1" dirty="0">
                <a:solidFill>
                  <a:srgbClr val="14532D"/>
                </a:solidFill>
                <a:latin typeface="Calibri" pitchFamily="34" charset="0"/>
                <a:ea typeface="Calibri" pitchFamily="34" charset="-122"/>
                <a:cs typeface="Calibri" pitchFamily="34" charset="-120"/>
              </a:rPr>
              <a:t>Prochaines étapes</a:t>
            </a:r>
            <a:endParaRPr lang="en-US" sz="1600" dirty="0"/>
          </a:p>
        </p:txBody>
      </p:sp>
      <p:sp>
        <p:nvSpPr>
          <p:cNvPr id="11" name="Text 8"/>
          <p:cNvSpPr/>
          <p:nvPr/>
        </p:nvSpPr>
        <p:spPr>
          <a:xfrm>
            <a:off x="6035040" y="1965960"/>
            <a:ext cx="5669280" cy="3200400"/>
          </a:xfrm>
          <a:prstGeom prst="rect">
            <a:avLst/>
          </a:prstGeom>
          <a:noFill/>
          <a:ln/>
        </p:spPr>
        <p:txBody>
          <a:bodyPr wrap="square" rtlCol="0" anchor="t"/>
          <a:lstStyle/>
          <a:p>
            <a:pPr marL="228600" indent="-228600">
              <a:lnSpc>
                <a:spcPct val="115000"/>
              </a:lnSpc>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Comparer le modèle à d'autres algorithmes (gradient boosting)</a:t>
            </a:r>
            <a:endParaRPr lang="en-US" sz="1400" dirty="0"/>
          </a:p>
          <a:p>
            <a:pPr marL="228600" indent="-228600">
              <a:lnSpc>
                <a:spcPct val="115000"/>
              </a:lnSpc>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Étendre la prévision à un horizon plus long</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0F3D28"/>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ln w="31750">
            <a:solidFill>
              <a:srgbClr val="1D7A50"/>
            </a:solidFill>
            <a:prstDash val="solid"/>
          </a:ln>
        </p:spPr>
        <p:txBody>
          <a:bodyPr/>
          <a:lstStyle/>
          <a:p>
            <a:endParaRPr lang="fr-FR"/>
          </a:p>
        </p:txBody>
      </p:sp>
      <p:sp>
        <p:nvSpPr>
          <p:cNvPr id="3" name="Shape 1"/>
          <p:cNvSpPr/>
          <p:nvPr/>
        </p:nvSpPr>
        <p:spPr>
          <a:xfrm>
            <a:off x="-1828800" y="3657600"/>
            <a:ext cx="3840480" cy="3840480"/>
          </a:xfrm>
          <a:prstGeom prst="ellipse">
            <a:avLst/>
          </a:prstGeom>
          <a:ln w="19050">
            <a:solidFill>
              <a:srgbClr val="1D7A50"/>
            </a:solidFill>
            <a:prstDash val="solid"/>
          </a:ln>
        </p:spPr>
        <p:txBody>
          <a:bodyPr/>
          <a:lstStyle/>
          <a:p>
            <a:endParaRPr lang="fr-FR"/>
          </a:p>
        </p:txBody>
      </p:sp>
      <p:sp>
        <p:nvSpPr>
          <p:cNvPr id="4" name="Text 2"/>
          <p:cNvSpPr/>
          <p:nvPr/>
        </p:nvSpPr>
        <p:spPr>
          <a:xfrm>
            <a:off x="0" y="2377440"/>
            <a:ext cx="12191695" cy="1005840"/>
          </a:xfrm>
          <a:prstGeom prst="rect">
            <a:avLst/>
          </a:prstGeom>
          <a:noFill/>
          <a:ln/>
        </p:spPr>
        <p:txBody>
          <a:bodyPr wrap="square"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Merci</a:t>
            </a:r>
            <a:endParaRPr lang="en-US" sz="4800" dirty="0"/>
          </a:p>
        </p:txBody>
      </p:sp>
      <p:sp>
        <p:nvSpPr>
          <p:cNvPr id="5" name="Text 3"/>
          <p:cNvSpPr/>
          <p:nvPr/>
        </p:nvSpPr>
        <p:spPr>
          <a:xfrm>
            <a:off x="0" y="3383280"/>
            <a:ext cx="12191695" cy="640080"/>
          </a:xfrm>
          <a:prstGeom prst="rect">
            <a:avLst/>
          </a:prstGeom>
          <a:noFill/>
          <a:ln/>
        </p:spPr>
        <p:txBody>
          <a:bodyPr wrap="square" rtlCol="0" anchor="ctr"/>
          <a:lstStyle/>
          <a:p>
            <a:pPr marL="0" indent="0" algn="ctr">
              <a:buNone/>
            </a:pPr>
            <a:r>
              <a:rPr lang="en-US" sz="2400" b="1" dirty="0">
                <a:solidFill>
                  <a:srgbClr val="CFEFDD"/>
                </a:solidFill>
                <a:latin typeface="Calibri" pitchFamily="34" charset="0"/>
                <a:ea typeface="Calibri" pitchFamily="34" charset="-122"/>
                <a:cs typeface="Calibri" pitchFamily="34" charset="-120"/>
              </a:rPr>
              <a:t>Questions</a:t>
            </a:r>
            <a:endParaRPr lang="en-US" sz="2400" dirty="0"/>
          </a:p>
        </p:txBody>
      </p:sp>
      <p:sp>
        <p:nvSpPr>
          <p:cNvPr id="6" name="Text 4"/>
          <p:cNvSpPr/>
          <p:nvPr/>
        </p:nvSpPr>
        <p:spPr>
          <a:xfrm>
            <a:off x="0" y="4114800"/>
            <a:ext cx="12191695"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SIGUI Data Engineering DE06— ForceN, Groupe A</a:t>
            </a:r>
            <a:endParaRPr lang="en-US" sz="1600" dirty="0"/>
          </a:p>
        </p:txBody>
      </p:sp>
      <p:sp>
        <p:nvSpPr>
          <p:cNvPr id="7" name="Text 5"/>
          <p:cNvSpPr/>
          <p:nvPr/>
        </p:nvSpPr>
        <p:spPr>
          <a:xfrm>
            <a:off x="457200" y="6400800"/>
            <a:ext cx="7315200" cy="274320"/>
          </a:xfrm>
          <a:prstGeom prst="rect">
            <a:avLst/>
          </a:prstGeom>
          <a:noFill/>
          <a:ln/>
        </p:spPr>
        <p:txBody>
          <a:bodyPr wrap="square" rtlCol="0" anchor="ctr"/>
          <a:lstStyle/>
          <a:p>
            <a:pPr marL="0" indent="0">
              <a:buNone/>
            </a:pPr>
            <a:r>
              <a:rPr lang="en-US" sz="900" dirty="0">
                <a:solidFill>
                  <a:srgbClr val="9FCBB3"/>
                </a:solidFill>
                <a:latin typeface="Calibri" pitchFamily="34" charset="0"/>
                <a:ea typeface="Calibri" pitchFamily="34" charset="-122"/>
                <a:cs typeface="Calibri" pitchFamily="34" charset="-120"/>
              </a:rPr>
              <a:t>Weather Data Platform — ForceN, Groupe A · Juillet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2678</Words>
  <Application>Microsoft Office PowerPoint</Application>
  <PresentationFormat>Grand écran</PresentationFormat>
  <Paragraphs>565</Paragraphs>
  <Slides>47</Slides>
  <Notes>47</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47</vt:i4>
      </vt:variant>
    </vt:vector>
  </HeadingPairs>
  <TitlesOfParts>
    <vt:vector size="52" baseType="lpstr">
      <vt:lpstr>Arial</vt:lpstr>
      <vt:lpstr>Calibri</vt:lpstr>
      <vt:lpstr>Cambria</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Kader KONE</cp:lastModifiedBy>
  <cp:revision>28</cp:revision>
  <dcterms:created xsi:type="dcterms:W3CDTF">2026-07-19T01:20:55Z</dcterms:created>
  <dcterms:modified xsi:type="dcterms:W3CDTF">2026-07-19T11:41:34Z</dcterms:modified>
</cp:coreProperties>
</file>